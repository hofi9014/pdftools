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93" y="0"/>
            <a:ext cx="7558405" cy="10008870"/>
          </a:xfrm>
          <a:custGeom>
            <a:avLst/>
            <a:gdLst/>
            <a:ahLst/>
            <a:cxnLst/>
            <a:rect l="l" t="t" r="r" b="b"/>
            <a:pathLst>
              <a:path w="7558405" h="10008870">
                <a:moveTo>
                  <a:pt x="7558062" y="0"/>
                </a:moveTo>
                <a:lnTo>
                  <a:pt x="0" y="0"/>
                </a:lnTo>
                <a:lnTo>
                  <a:pt x="0" y="10008438"/>
                </a:lnTo>
                <a:lnTo>
                  <a:pt x="7558062" y="10008438"/>
                </a:lnTo>
                <a:lnTo>
                  <a:pt x="7558062" y="0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09848" y="1711194"/>
            <a:ext cx="732789" cy="942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93" y="0"/>
            <a:ext cx="7558405" cy="10008870"/>
          </a:xfrm>
          <a:custGeom>
            <a:avLst/>
            <a:gdLst/>
            <a:ahLst/>
            <a:cxnLst/>
            <a:rect l="l" t="t" r="r" b="b"/>
            <a:pathLst>
              <a:path w="7558405" h="10008870">
                <a:moveTo>
                  <a:pt x="7558062" y="0"/>
                </a:moveTo>
                <a:lnTo>
                  <a:pt x="0" y="0"/>
                </a:lnTo>
                <a:lnTo>
                  <a:pt x="0" y="10008438"/>
                </a:lnTo>
                <a:lnTo>
                  <a:pt x="7558062" y="10008438"/>
                </a:lnTo>
                <a:lnTo>
                  <a:pt x="7558062" y="0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93" y="0"/>
            <a:ext cx="7558405" cy="10008870"/>
          </a:xfrm>
          <a:custGeom>
            <a:avLst/>
            <a:gdLst/>
            <a:ahLst/>
            <a:cxnLst/>
            <a:rect l="l" t="t" r="r" b="b"/>
            <a:pathLst>
              <a:path w="7558405" h="10008870">
                <a:moveTo>
                  <a:pt x="7558062" y="0"/>
                </a:moveTo>
                <a:lnTo>
                  <a:pt x="0" y="0"/>
                </a:lnTo>
                <a:lnTo>
                  <a:pt x="0" y="10008438"/>
                </a:lnTo>
                <a:lnTo>
                  <a:pt x="7558062" y="10008438"/>
                </a:lnTo>
                <a:lnTo>
                  <a:pt x="7558062" y="0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6075" y="3678261"/>
            <a:ext cx="4828540" cy="5156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673" y="3547624"/>
            <a:ext cx="5461634" cy="44297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14790" y="10216287"/>
            <a:ext cx="2327922" cy="256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bg1"/>
                </a:solidFill>
                <a:latin typeface="Century Gothic"/>
                <a:cs typeface="Century Goth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59040" cy="10692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9" y="12"/>
            <a:ext cx="7556500" cy="996950"/>
          </a:xfrm>
          <a:custGeom>
            <a:avLst/>
            <a:gdLst/>
            <a:ahLst/>
            <a:cxnLst/>
            <a:rect l="l" t="t" r="r" b="b"/>
            <a:pathLst>
              <a:path w="7556500" h="996950">
                <a:moveTo>
                  <a:pt x="7556030" y="0"/>
                </a:moveTo>
                <a:lnTo>
                  <a:pt x="0" y="0"/>
                </a:lnTo>
                <a:lnTo>
                  <a:pt x="0" y="996518"/>
                </a:lnTo>
                <a:lnTo>
                  <a:pt x="7556030" y="996518"/>
                </a:lnTo>
                <a:lnTo>
                  <a:pt x="7556030" y="0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61376" y="293912"/>
            <a:ext cx="5037455" cy="415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50" spc="105" b="1">
                <a:latin typeface="Arial"/>
                <a:cs typeface="Arial"/>
              </a:rPr>
              <a:t>Czy</a:t>
            </a:r>
            <a:r>
              <a:rPr dirty="0" sz="2550" spc="90" b="1">
                <a:latin typeface="Arial"/>
                <a:cs typeface="Arial"/>
              </a:rPr>
              <a:t> </a:t>
            </a:r>
            <a:r>
              <a:rPr dirty="0" sz="2550" spc="80" b="1">
                <a:latin typeface="Arial"/>
                <a:cs typeface="Arial"/>
              </a:rPr>
              <a:t>zastanawiałeś</a:t>
            </a:r>
            <a:r>
              <a:rPr dirty="0" sz="2550" spc="100" b="1">
                <a:latin typeface="Arial"/>
                <a:cs typeface="Arial"/>
              </a:rPr>
              <a:t> </a:t>
            </a:r>
            <a:r>
              <a:rPr dirty="0" sz="2550" b="1">
                <a:latin typeface="Arial"/>
                <a:cs typeface="Arial"/>
              </a:rPr>
              <a:t>się</a:t>
            </a:r>
            <a:r>
              <a:rPr dirty="0" sz="2550" spc="90" b="1">
                <a:latin typeface="Arial"/>
                <a:cs typeface="Arial"/>
              </a:rPr>
              <a:t> </a:t>
            </a:r>
            <a:r>
              <a:rPr dirty="0" sz="2550" spc="-10" b="1">
                <a:latin typeface="Arial"/>
                <a:cs typeface="Arial"/>
              </a:rPr>
              <a:t>kiedyś…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1363" y="1368539"/>
            <a:ext cx="498157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sprawia,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jedni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skutecznie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budują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biznes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oparty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na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handlu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Internecie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zarabiają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solidne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pieniądze,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podczas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gdy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inni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mogą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wystartować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końcu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zostają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bez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grosza 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przy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duszy?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354" y="2424341"/>
            <a:ext cx="5551805" cy="711200"/>
          </a:xfrm>
          <a:prstGeom prst="rect">
            <a:avLst/>
          </a:prstGeom>
          <a:ln w="12700">
            <a:solidFill>
              <a:srgbClr val="E94F1E"/>
            </a:solidFill>
          </a:ln>
        </p:spPr>
        <p:txBody>
          <a:bodyPr wrap="square" lIns="0" tIns="145415" rIns="0" bIns="0" rtlCol="0" vert="horz">
            <a:spAutoFit/>
          </a:bodyPr>
          <a:lstStyle/>
          <a:p>
            <a:pPr marL="269240" marR="1127760">
              <a:lnSpc>
                <a:spcPct val="100000"/>
              </a:lnSpc>
              <a:spcBef>
                <a:spcPts val="1145"/>
              </a:spcBef>
            </a:pPr>
            <a:r>
              <a:rPr dirty="0" sz="1300" b="1" i="1">
                <a:solidFill>
                  <a:srgbClr val="1D1D1B"/>
                </a:solidFill>
                <a:latin typeface="Century Gothic"/>
                <a:cs typeface="Century Gothic"/>
              </a:rPr>
              <a:t>Jaki</a:t>
            </a:r>
            <a:r>
              <a:rPr dirty="0" sz="1300" spc="160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 b="1" i="1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160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 i="1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165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 i="1">
                <a:solidFill>
                  <a:srgbClr val="1D1D1B"/>
                </a:solidFill>
                <a:latin typeface="Century Gothic"/>
                <a:cs typeface="Century Gothic"/>
              </a:rPr>
              <a:t>sekret</a:t>
            </a:r>
            <a:r>
              <a:rPr dirty="0" sz="1300" spc="160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 i="1">
                <a:solidFill>
                  <a:srgbClr val="1D1D1B"/>
                </a:solidFill>
                <a:latin typeface="Century Gothic"/>
                <a:cs typeface="Century Gothic"/>
              </a:rPr>
              <a:t>rozkręcenia</a:t>
            </a:r>
            <a:r>
              <a:rPr dirty="0" sz="1300" spc="165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 i="1">
                <a:solidFill>
                  <a:srgbClr val="1D1D1B"/>
                </a:solidFill>
                <a:latin typeface="Century Gothic"/>
                <a:cs typeface="Century Gothic"/>
              </a:rPr>
              <a:t>skutecznie</a:t>
            </a:r>
            <a:r>
              <a:rPr dirty="0" sz="1300" spc="160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 i="1">
                <a:solidFill>
                  <a:srgbClr val="1D1D1B"/>
                </a:solidFill>
                <a:latin typeface="Century Gothic"/>
                <a:cs typeface="Century Gothic"/>
              </a:rPr>
              <a:t>handlu </a:t>
            </a:r>
            <a:r>
              <a:rPr dirty="0" sz="1300" spc="70" b="1" i="1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25" b="1" i="1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 i="1">
                <a:solidFill>
                  <a:srgbClr val="1D1D1B"/>
                </a:solidFill>
                <a:latin typeface="Century Gothic"/>
                <a:cs typeface="Century Gothic"/>
              </a:rPr>
              <a:t>Internecie?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1363" y="3349739"/>
            <a:ext cx="4967605" cy="5572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kilku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latach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handlu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Internecie,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pracy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wieloma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firmami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kontaktach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tysiącami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przedsiębiorców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(w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ramach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naszej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społeczności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Sekrety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Handlu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zrzeszamy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już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61,978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przedsiębiorców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tylko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204">
                <a:solidFill>
                  <a:srgbClr val="1D1D1B"/>
                </a:solidFill>
                <a:latin typeface="Century Gothic"/>
                <a:cs typeface="Century Gothic"/>
              </a:rPr>
              <a:t>FB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obserwuje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nas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39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345)...</a:t>
            </a:r>
            <a:endParaRPr sz="1300">
              <a:latin typeface="Century Gothic"/>
              <a:cs typeface="Century Gothic"/>
            </a:endParaRPr>
          </a:p>
          <a:p>
            <a:pPr marL="12700" marR="16002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...zauważyliśmy,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większość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osób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mylne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wyobrażenie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temat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roli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ceny.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90" b="1">
                <a:solidFill>
                  <a:srgbClr val="E94F1E"/>
                </a:solidFill>
                <a:latin typeface="Arial"/>
                <a:cs typeface="Arial"/>
              </a:rPr>
              <a:t>ŻADNA</a:t>
            </a:r>
            <a:r>
              <a:rPr dirty="0" sz="1300" spc="80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osób,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odniosła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sukces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startując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zera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300" spc="50" b="1">
                <a:solidFill>
                  <a:srgbClr val="E94F1E"/>
                </a:solidFill>
                <a:latin typeface="Arial"/>
                <a:cs typeface="Arial"/>
              </a:rPr>
              <a:t>NIE</a:t>
            </a:r>
            <a:r>
              <a:rPr dirty="0" sz="1300" spc="210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E94F1E"/>
                </a:solidFill>
                <a:latin typeface="Arial"/>
                <a:cs typeface="Arial"/>
              </a:rPr>
              <a:t>SPRZEDAWAŁA</a:t>
            </a:r>
            <a:r>
              <a:rPr dirty="0" sz="1300" spc="215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E94F1E"/>
                </a:solidFill>
                <a:latin typeface="Arial"/>
                <a:cs typeface="Arial"/>
              </a:rPr>
              <a:t>NAJTANIEJ!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Najtańszy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być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tylko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jeden.</a:t>
            </a:r>
            <a:endParaRPr sz="1300">
              <a:latin typeface="Century Gothic"/>
              <a:cs typeface="Century Gothic"/>
            </a:endParaRPr>
          </a:p>
          <a:p>
            <a:pPr marL="12700" marR="61023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żadnej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zasługi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byciu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drugim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najtańszym.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oferowanie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najtaniej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produktów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Twoja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jedyna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strategia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już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przegrałeś!</a:t>
            </a:r>
            <a:endParaRPr sz="1300">
              <a:latin typeface="Century Gothic"/>
              <a:cs typeface="Century Gothic"/>
            </a:endParaRPr>
          </a:p>
          <a:p>
            <a:pPr marL="12700" marR="483234">
              <a:lnSpc>
                <a:spcPct val="100000"/>
              </a:lnSpc>
              <a:spcBef>
                <a:spcPts val="1560"/>
              </a:spcBef>
            </a:pPr>
            <a:r>
              <a:rPr dirty="0" sz="1300" spc="185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sposób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mówisz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swoim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potencjalnym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klientom,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oferujesz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produkty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marnej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jakości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kiepską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obsługę klienta.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Ludzie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głupi.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Wiedzą,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tanio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znaczy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kiepsko.</a:t>
            </a:r>
            <a:endParaRPr sz="1300">
              <a:latin typeface="Century Gothic"/>
              <a:cs typeface="Century Gothic"/>
            </a:endParaRPr>
          </a:p>
          <a:p>
            <a:pPr marL="12700" marR="39370">
              <a:lnSpc>
                <a:spcPct val="100000"/>
              </a:lnSpc>
              <a:spcBef>
                <a:spcPts val="1560"/>
              </a:spcBef>
            </a:pP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Moja </a:t>
            </a:r>
            <a:r>
              <a:rPr dirty="0" sz="1300" spc="-60">
                <a:solidFill>
                  <a:srgbClr val="1D1D1B"/>
                </a:solidFill>
                <a:latin typeface="Century Gothic"/>
                <a:cs typeface="Century Gothic"/>
              </a:rPr>
              <a:t>babcia</a:t>
            </a:r>
            <a:r>
              <a:rPr dirty="0" sz="1300" spc="-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mawiała:</a:t>
            </a:r>
            <a:r>
              <a:rPr dirty="0" sz="1300" spc="-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“Jestem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biedna,</a:t>
            </a:r>
            <a:r>
              <a:rPr dirty="0" sz="1300" spc="-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dlatego</a:t>
            </a:r>
            <a:r>
              <a:rPr dirty="0" sz="1300" spc="-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stać</a:t>
            </a:r>
            <a:r>
              <a:rPr dirty="0" sz="1300" spc="-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mnie na</a:t>
            </a:r>
            <a:r>
              <a:rPr dirty="0" sz="1300" spc="-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tanie</a:t>
            </a:r>
            <a:r>
              <a:rPr dirty="0" sz="1300" spc="-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rzeczy”.</a:t>
            </a:r>
            <a:endParaRPr sz="1300">
              <a:latin typeface="Century Gothic"/>
              <a:cs typeface="Century Gothic"/>
            </a:endParaRPr>
          </a:p>
          <a:p>
            <a:pPr marL="12700" marR="57721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Przeanalizowaliśmy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skuteczni</a:t>
            </a:r>
            <a:r>
              <a:rPr dirty="0" sz="1300" spc="1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sprzedawcy</a:t>
            </a:r>
            <a:r>
              <a:rPr dirty="0" sz="1300" spc="1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robią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chcemy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tym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podzielić!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97681" y="1711194"/>
            <a:ext cx="565150" cy="9423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925"/>
              <a:t>1.</a:t>
            </a:r>
            <a:endParaRPr sz="6000"/>
          </a:p>
        </p:txBody>
      </p:sp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44780" rIns="0" bIns="0" rtlCol="0" vert="horz">
            <a:spAutoFit/>
          </a:bodyPr>
          <a:lstStyle/>
          <a:p>
            <a:pPr algn="ctr" marR="105410">
              <a:lnSpc>
                <a:spcPct val="100000"/>
              </a:lnSpc>
              <a:spcBef>
                <a:spcPts val="1140"/>
              </a:spcBef>
            </a:pPr>
            <a:r>
              <a:rPr dirty="0" spc="-80"/>
              <a:t>Testują</a:t>
            </a:r>
          </a:p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pc="240"/>
              <a:t>-</a:t>
            </a:r>
            <a:r>
              <a:rPr dirty="0" spc="-145"/>
              <a:t> </a:t>
            </a:r>
            <a:r>
              <a:rPr dirty="0" spc="-140"/>
              <a:t>lustrzane</a:t>
            </a:r>
            <a:r>
              <a:rPr dirty="0" spc="-145"/>
              <a:t> </a:t>
            </a:r>
            <a:r>
              <a:rPr dirty="0" spc="-114"/>
              <a:t>odbicie</a:t>
            </a:r>
            <a:r>
              <a:rPr dirty="0" spc="-140"/>
              <a:t> </a:t>
            </a:r>
            <a:r>
              <a:rPr dirty="0" spc="-80"/>
              <a:t>zdjęcia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640"/>
              </a:spcBef>
            </a:pPr>
          </a:p>
          <a:p>
            <a:pPr algn="ctr">
              <a:lnSpc>
                <a:spcPct val="100000"/>
              </a:lnSpc>
            </a:pPr>
            <a:r>
              <a:rPr dirty="0" sz="3800" spc="-10"/>
              <a:t>WZROST</a:t>
            </a:r>
            <a:endParaRPr sz="3800"/>
          </a:p>
          <a:p>
            <a:pPr algn="ctr">
              <a:lnSpc>
                <a:spcPts val="2740"/>
              </a:lnSpc>
              <a:spcBef>
                <a:spcPts val="640"/>
              </a:spcBef>
            </a:pPr>
            <a:r>
              <a:rPr dirty="0" sz="2400" spc="-130"/>
              <a:t>KONWERSJI</a:t>
            </a:r>
            <a:r>
              <a:rPr dirty="0" sz="2400" spc="-125"/>
              <a:t> </a:t>
            </a:r>
            <a:r>
              <a:rPr dirty="0" sz="2400" spc="-50"/>
              <a:t>O</a:t>
            </a:r>
            <a:endParaRPr sz="2400"/>
          </a:p>
          <a:p>
            <a:pPr algn="ctr">
              <a:lnSpc>
                <a:spcPts val="7300"/>
              </a:lnSpc>
            </a:pPr>
            <a:r>
              <a:rPr dirty="0" sz="6200" spc="-555">
                <a:solidFill>
                  <a:srgbClr val="F6E81D"/>
                </a:solidFill>
              </a:rPr>
              <a:t>10,7%</a:t>
            </a:r>
            <a:endParaRPr sz="6200"/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363" y="691934"/>
            <a:ext cx="4930140" cy="646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Zaangażuj</a:t>
            </a:r>
            <a:r>
              <a:rPr dirty="0" sz="20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się,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daj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coś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254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siebie.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35" b="1">
                <a:solidFill>
                  <a:srgbClr val="E94F1E"/>
                </a:solidFill>
                <a:latin typeface="Arial"/>
                <a:cs typeface="Arial"/>
              </a:rPr>
              <a:t>Eksperymentuj</a:t>
            </a:r>
            <a:r>
              <a:rPr dirty="0" sz="2000" spc="35">
                <a:solidFill>
                  <a:srgbClr val="1D1D1B"/>
                </a:solidFill>
                <a:latin typeface="Century Gothic"/>
                <a:cs typeface="Century Gothic"/>
              </a:rPr>
              <a:t>.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Prosta</a:t>
            </a:r>
            <a:r>
              <a:rPr dirty="0" sz="1300" spc="2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sprawa.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Kiedy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pobierasz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masowo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ofertę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dostawcy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(np.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hurtowni)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każdego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produktu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masz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kilka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zdjęć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opis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tego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przedmiotu.</a:t>
            </a:r>
            <a:endParaRPr sz="1300">
              <a:latin typeface="Century Gothic"/>
              <a:cs typeface="Century Gothic"/>
            </a:endParaRPr>
          </a:p>
          <a:p>
            <a:pPr marL="12700" marR="68516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Oczywiście,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wystawiając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kilka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tysięcy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produktów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raz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opcji,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żeby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opis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zmieniać.</a:t>
            </a:r>
            <a:endParaRPr sz="1300">
              <a:latin typeface="Century Gothic"/>
              <a:cs typeface="Century Gothic"/>
            </a:endParaRPr>
          </a:p>
          <a:p>
            <a:pPr marL="12700" marR="67119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Pamiętaj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jednak,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każda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zmiana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jaką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wprowadzisz ma</a:t>
            </a:r>
            <a:r>
              <a:rPr dirty="0" sz="1300" spc="-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znaczenie.</a:t>
            </a:r>
            <a:endParaRPr sz="1300">
              <a:latin typeface="Century Gothic"/>
              <a:cs typeface="Century Gothic"/>
            </a:endParaRPr>
          </a:p>
          <a:p>
            <a:pPr marL="12700" marR="427355">
              <a:lnSpc>
                <a:spcPct val="100000"/>
              </a:lnSpc>
              <a:spcBef>
                <a:spcPts val="156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Wybierz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kilka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aukcji,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cieszą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zainteresowaniem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klientów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zacznij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nad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nimi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pracować.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300">
              <a:latin typeface="Century Gothic"/>
              <a:cs typeface="Century Gothic"/>
            </a:endParaRPr>
          </a:p>
          <a:p>
            <a:pPr marL="12700" marR="2320290">
              <a:lnSpc>
                <a:spcPct val="100000"/>
              </a:lnSpc>
            </a:pP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Zrobiliśmy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prosty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test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5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wyobraź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sobie,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wystarczyło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zrobić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lustrzane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odbicie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zdjęcia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hurtowni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nasza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konwersja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5">
                <a:solidFill>
                  <a:srgbClr val="1D1D1B"/>
                </a:solidFill>
                <a:latin typeface="Century Gothic"/>
                <a:cs typeface="Century Gothic"/>
              </a:rPr>
              <a:t>na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tej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samej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aukcji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takim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samym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opisem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wzrosła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aż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 b="1">
                <a:solidFill>
                  <a:srgbClr val="E94F1E"/>
                </a:solidFill>
                <a:latin typeface="Arial"/>
                <a:cs typeface="Arial"/>
              </a:rPr>
              <a:t>10,7%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.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300">
              <a:latin typeface="Century Gothic"/>
              <a:cs typeface="Century Gothic"/>
            </a:endParaRPr>
          </a:p>
          <a:p>
            <a:pPr marL="12700" marR="280035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Staraj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myśleć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klient.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Sortując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aukcje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zwróci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uwagę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fotografie,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nieco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inne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wszystkich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pozostałych.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Twoja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pierwsza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szansa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przyciągnięcie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jego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uwagi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właśnie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Twojej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aukcji.</a:t>
            </a:r>
            <a:endParaRPr sz="1300">
              <a:latin typeface="Century Gothic"/>
              <a:cs typeface="Century Gothic"/>
            </a:endParaRPr>
          </a:p>
          <a:p>
            <a:pPr marL="12700" marR="71882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Skuteczni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sprzedawcy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wiedzą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tym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wykorzystują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element!</a:t>
            </a:r>
            <a:endParaRPr sz="1300">
              <a:latin typeface="Century Gothic"/>
              <a:cs typeface="Century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84280" y="4357840"/>
            <a:ext cx="1108075" cy="847090"/>
            <a:chOff x="4784280" y="4357840"/>
            <a:chExt cx="1108075" cy="847090"/>
          </a:xfrm>
        </p:grpSpPr>
        <p:sp>
          <p:nvSpPr>
            <p:cNvPr id="8" name="object 8"/>
            <p:cNvSpPr/>
            <p:nvPr/>
          </p:nvSpPr>
          <p:spPr>
            <a:xfrm>
              <a:off x="4784280" y="4357840"/>
              <a:ext cx="1108075" cy="847090"/>
            </a:xfrm>
            <a:custGeom>
              <a:avLst/>
              <a:gdLst/>
              <a:ahLst/>
              <a:cxnLst/>
              <a:rect l="l" t="t" r="r" b="b"/>
              <a:pathLst>
                <a:path w="1108075" h="847089">
                  <a:moveTo>
                    <a:pt x="1085342" y="79895"/>
                  </a:moveTo>
                  <a:lnTo>
                    <a:pt x="22326" y="79895"/>
                  </a:lnTo>
                  <a:lnTo>
                    <a:pt x="13630" y="81650"/>
                  </a:lnTo>
                  <a:lnTo>
                    <a:pt x="6534" y="86434"/>
                  </a:lnTo>
                  <a:lnTo>
                    <a:pt x="1752" y="93531"/>
                  </a:lnTo>
                  <a:lnTo>
                    <a:pt x="0" y="102222"/>
                  </a:lnTo>
                  <a:lnTo>
                    <a:pt x="0" y="824166"/>
                  </a:lnTo>
                  <a:lnTo>
                    <a:pt x="1752" y="832862"/>
                  </a:lnTo>
                  <a:lnTo>
                    <a:pt x="6534" y="839958"/>
                  </a:lnTo>
                  <a:lnTo>
                    <a:pt x="13630" y="844740"/>
                  </a:lnTo>
                  <a:lnTo>
                    <a:pt x="22326" y="846493"/>
                  </a:lnTo>
                  <a:lnTo>
                    <a:pt x="1085342" y="846493"/>
                  </a:lnTo>
                  <a:lnTo>
                    <a:pt x="1094030" y="844740"/>
                  </a:lnTo>
                  <a:lnTo>
                    <a:pt x="1101123" y="839958"/>
                  </a:lnTo>
                  <a:lnTo>
                    <a:pt x="1105903" y="832862"/>
                  </a:lnTo>
                  <a:lnTo>
                    <a:pt x="1107655" y="824166"/>
                  </a:lnTo>
                  <a:lnTo>
                    <a:pt x="1107655" y="801839"/>
                  </a:lnTo>
                  <a:lnTo>
                    <a:pt x="44640" y="801839"/>
                  </a:lnTo>
                  <a:lnTo>
                    <a:pt x="44640" y="124536"/>
                  </a:lnTo>
                  <a:lnTo>
                    <a:pt x="1107655" y="124536"/>
                  </a:lnTo>
                  <a:lnTo>
                    <a:pt x="1107655" y="102222"/>
                  </a:lnTo>
                  <a:lnTo>
                    <a:pt x="1105903" y="93531"/>
                  </a:lnTo>
                  <a:lnTo>
                    <a:pt x="1101123" y="86434"/>
                  </a:lnTo>
                  <a:lnTo>
                    <a:pt x="1094030" y="81650"/>
                  </a:lnTo>
                  <a:lnTo>
                    <a:pt x="1085342" y="79895"/>
                  </a:lnTo>
                  <a:close/>
                </a:path>
                <a:path w="1108075" h="847089">
                  <a:moveTo>
                    <a:pt x="1107655" y="124536"/>
                  </a:moveTo>
                  <a:lnTo>
                    <a:pt x="1063015" y="124536"/>
                  </a:lnTo>
                  <a:lnTo>
                    <a:pt x="1063015" y="801839"/>
                  </a:lnTo>
                  <a:lnTo>
                    <a:pt x="1107655" y="801839"/>
                  </a:lnTo>
                  <a:lnTo>
                    <a:pt x="1107655" y="124536"/>
                  </a:lnTo>
                  <a:close/>
                </a:path>
                <a:path w="1108075" h="847089">
                  <a:moveTo>
                    <a:pt x="397243" y="0"/>
                  </a:moveTo>
                  <a:lnTo>
                    <a:pt x="388554" y="1752"/>
                  </a:lnTo>
                  <a:lnTo>
                    <a:pt x="381461" y="6534"/>
                  </a:lnTo>
                  <a:lnTo>
                    <a:pt x="376681" y="13630"/>
                  </a:lnTo>
                  <a:lnTo>
                    <a:pt x="374929" y="22326"/>
                  </a:lnTo>
                  <a:lnTo>
                    <a:pt x="374929" y="79895"/>
                  </a:lnTo>
                  <a:lnTo>
                    <a:pt x="419569" y="79895"/>
                  </a:lnTo>
                  <a:lnTo>
                    <a:pt x="419569" y="22326"/>
                  </a:lnTo>
                  <a:lnTo>
                    <a:pt x="417817" y="13630"/>
                  </a:lnTo>
                  <a:lnTo>
                    <a:pt x="413035" y="6534"/>
                  </a:lnTo>
                  <a:lnTo>
                    <a:pt x="405939" y="1752"/>
                  </a:lnTo>
                  <a:lnTo>
                    <a:pt x="397243" y="0"/>
                  </a:lnTo>
                  <a:close/>
                </a:path>
                <a:path w="1108075" h="847089">
                  <a:moveTo>
                    <a:pt x="702500" y="0"/>
                  </a:moveTo>
                  <a:lnTo>
                    <a:pt x="693804" y="1752"/>
                  </a:lnTo>
                  <a:lnTo>
                    <a:pt x="686708" y="6534"/>
                  </a:lnTo>
                  <a:lnTo>
                    <a:pt x="681926" y="13630"/>
                  </a:lnTo>
                  <a:lnTo>
                    <a:pt x="680173" y="22326"/>
                  </a:lnTo>
                  <a:lnTo>
                    <a:pt x="680173" y="79895"/>
                  </a:lnTo>
                  <a:lnTo>
                    <a:pt x="724827" y="79895"/>
                  </a:lnTo>
                  <a:lnTo>
                    <a:pt x="724827" y="22326"/>
                  </a:lnTo>
                  <a:lnTo>
                    <a:pt x="723074" y="13630"/>
                  </a:lnTo>
                  <a:lnTo>
                    <a:pt x="718292" y="6534"/>
                  </a:lnTo>
                  <a:lnTo>
                    <a:pt x="711196" y="1752"/>
                  </a:lnTo>
                  <a:lnTo>
                    <a:pt x="702500" y="0"/>
                  </a:lnTo>
                  <a:close/>
                </a:path>
              </a:pathLst>
            </a:custGeom>
            <a:solidFill>
              <a:srgbClr val="E94F1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6121" y="4914290"/>
              <a:ext cx="163652" cy="16013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256326" y="4611116"/>
              <a:ext cx="384175" cy="463550"/>
            </a:xfrm>
            <a:custGeom>
              <a:avLst/>
              <a:gdLst/>
              <a:ahLst/>
              <a:cxnLst/>
              <a:rect l="l" t="t" r="r" b="b"/>
              <a:pathLst>
                <a:path w="384175" h="463550">
                  <a:moveTo>
                    <a:pt x="163614" y="228231"/>
                  </a:moveTo>
                  <a:lnTo>
                    <a:pt x="160756" y="214172"/>
                  </a:lnTo>
                  <a:lnTo>
                    <a:pt x="152996" y="202666"/>
                  </a:lnTo>
                  <a:lnTo>
                    <a:pt x="141490" y="194919"/>
                  </a:lnTo>
                  <a:lnTo>
                    <a:pt x="127419" y="192062"/>
                  </a:lnTo>
                  <a:lnTo>
                    <a:pt x="118960" y="192062"/>
                  </a:lnTo>
                  <a:lnTo>
                    <a:pt x="118960" y="236702"/>
                  </a:lnTo>
                  <a:lnTo>
                    <a:pt x="118960" y="418655"/>
                  </a:lnTo>
                  <a:lnTo>
                    <a:pt x="44653" y="418655"/>
                  </a:lnTo>
                  <a:lnTo>
                    <a:pt x="44653" y="236702"/>
                  </a:lnTo>
                  <a:lnTo>
                    <a:pt x="118960" y="236702"/>
                  </a:lnTo>
                  <a:lnTo>
                    <a:pt x="118960" y="192062"/>
                  </a:lnTo>
                  <a:lnTo>
                    <a:pt x="36144" y="192062"/>
                  </a:lnTo>
                  <a:lnTo>
                    <a:pt x="22085" y="194919"/>
                  </a:lnTo>
                  <a:lnTo>
                    <a:pt x="10591" y="202666"/>
                  </a:lnTo>
                  <a:lnTo>
                    <a:pt x="2844" y="214172"/>
                  </a:lnTo>
                  <a:lnTo>
                    <a:pt x="0" y="228231"/>
                  </a:lnTo>
                  <a:lnTo>
                    <a:pt x="0" y="427101"/>
                  </a:lnTo>
                  <a:lnTo>
                    <a:pt x="2844" y="441185"/>
                  </a:lnTo>
                  <a:lnTo>
                    <a:pt x="10591" y="452704"/>
                  </a:lnTo>
                  <a:lnTo>
                    <a:pt x="22085" y="460463"/>
                  </a:lnTo>
                  <a:lnTo>
                    <a:pt x="36144" y="463308"/>
                  </a:lnTo>
                  <a:lnTo>
                    <a:pt x="127419" y="463308"/>
                  </a:lnTo>
                  <a:lnTo>
                    <a:pt x="141490" y="460463"/>
                  </a:lnTo>
                  <a:lnTo>
                    <a:pt x="152996" y="452704"/>
                  </a:lnTo>
                  <a:lnTo>
                    <a:pt x="160756" y="441185"/>
                  </a:lnTo>
                  <a:lnTo>
                    <a:pt x="163614" y="427101"/>
                  </a:lnTo>
                  <a:lnTo>
                    <a:pt x="163614" y="418655"/>
                  </a:lnTo>
                  <a:lnTo>
                    <a:pt x="163614" y="236702"/>
                  </a:lnTo>
                  <a:lnTo>
                    <a:pt x="163614" y="228231"/>
                  </a:lnTo>
                  <a:close/>
                </a:path>
                <a:path w="384175" h="463550">
                  <a:moveTo>
                    <a:pt x="383781" y="36182"/>
                  </a:moveTo>
                  <a:lnTo>
                    <a:pt x="380923" y="22123"/>
                  </a:lnTo>
                  <a:lnTo>
                    <a:pt x="373176" y="10617"/>
                  </a:lnTo>
                  <a:lnTo>
                    <a:pt x="361670" y="2857"/>
                  </a:lnTo>
                  <a:lnTo>
                    <a:pt x="347611" y="0"/>
                  </a:lnTo>
                  <a:lnTo>
                    <a:pt x="339128" y="0"/>
                  </a:lnTo>
                  <a:lnTo>
                    <a:pt x="339128" y="44640"/>
                  </a:lnTo>
                  <a:lnTo>
                    <a:pt x="339128" y="418655"/>
                  </a:lnTo>
                  <a:lnTo>
                    <a:pt x="264807" y="418655"/>
                  </a:lnTo>
                  <a:lnTo>
                    <a:pt x="264807" y="44640"/>
                  </a:lnTo>
                  <a:lnTo>
                    <a:pt x="339128" y="44640"/>
                  </a:lnTo>
                  <a:lnTo>
                    <a:pt x="339128" y="0"/>
                  </a:lnTo>
                  <a:lnTo>
                    <a:pt x="256349" y="0"/>
                  </a:lnTo>
                  <a:lnTo>
                    <a:pt x="242277" y="2857"/>
                  </a:lnTo>
                  <a:lnTo>
                    <a:pt x="230771" y="10617"/>
                  </a:lnTo>
                  <a:lnTo>
                    <a:pt x="223012" y="22123"/>
                  </a:lnTo>
                  <a:lnTo>
                    <a:pt x="220167" y="36182"/>
                  </a:lnTo>
                  <a:lnTo>
                    <a:pt x="220167" y="427101"/>
                  </a:lnTo>
                  <a:lnTo>
                    <a:pt x="223012" y="441185"/>
                  </a:lnTo>
                  <a:lnTo>
                    <a:pt x="230771" y="452704"/>
                  </a:lnTo>
                  <a:lnTo>
                    <a:pt x="242277" y="460463"/>
                  </a:lnTo>
                  <a:lnTo>
                    <a:pt x="256349" y="463308"/>
                  </a:lnTo>
                  <a:lnTo>
                    <a:pt x="347611" y="463308"/>
                  </a:lnTo>
                  <a:lnTo>
                    <a:pt x="361670" y="460463"/>
                  </a:lnTo>
                  <a:lnTo>
                    <a:pt x="373176" y="452704"/>
                  </a:lnTo>
                  <a:lnTo>
                    <a:pt x="380923" y="441185"/>
                  </a:lnTo>
                  <a:lnTo>
                    <a:pt x="383781" y="427101"/>
                  </a:lnTo>
                  <a:lnTo>
                    <a:pt x="383781" y="418655"/>
                  </a:lnTo>
                  <a:lnTo>
                    <a:pt x="383781" y="44640"/>
                  </a:lnTo>
                  <a:lnTo>
                    <a:pt x="383781" y="36182"/>
                  </a:lnTo>
                  <a:close/>
                </a:path>
              </a:pathLst>
            </a:custGeom>
            <a:solidFill>
              <a:srgbClr val="E94F1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3989" y="4583951"/>
              <a:ext cx="235842" cy="23586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6621" y="5250586"/>
            <a:ext cx="76504" cy="2111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23103" y="5250586"/>
            <a:ext cx="76504" cy="2111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6647" y="7503167"/>
            <a:ext cx="4336414" cy="197243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15"/>
              </a:spcBef>
            </a:pPr>
            <a:r>
              <a:rPr dirty="0" sz="6000" spc="-295"/>
              <a:t>2.</a:t>
            </a:r>
            <a:endParaRPr sz="6000"/>
          </a:p>
        </p:txBody>
      </p:sp>
      <p:sp>
        <p:nvSpPr>
          <p:cNvPr id="2" name="object 2"/>
          <p:cNvSpPr txBox="1"/>
          <p:nvPr/>
        </p:nvSpPr>
        <p:spPr>
          <a:xfrm>
            <a:off x="1446098" y="3678261"/>
            <a:ext cx="4668520" cy="5156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00" spc="-100">
                <a:solidFill>
                  <a:srgbClr val="FFFFFF"/>
                </a:solidFill>
                <a:latin typeface="Arial Black"/>
                <a:cs typeface="Arial Black"/>
              </a:rPr>
              <a:t>Ludzie</a:t>
            </a:r>
            <a:r>
              <a:rPr dirty="0" sz="320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kupują</a:t>
            </a:r>
            <a:r>
              <a:rPr dirty="0" sz="3200" spc="-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80">
                <a:solidFill>
                  <a:srgbClr val="FFFFFF"/>
                </a:solidFill>
                <a:latin typeface="Arial Black"/>
                <a:cs typeface="Arial Black"/>
              </a:rPr>
              <a:t>oczami!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1363" y="1214323"/>
            <a:ext cx="5013325" cy="3893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09575">
              <a:lnSpc>
                <a:spcPct val="100000"/>
              </a:lnSpc>
              <a:spcBef>
                <a:spcPts val="100"/>
              </a:spcBef>
            </a:pPr>
            <a:r>
              <a:rPr dirty="0" sz="2000" spc="95">
                <a:solidFill>
                  <a:srgbClr val="1D1D1B"/>
                </a:solidFill>
                <a:latin typeface="Century Gothic"/>
                <a:cs typeface="Century Gothic"/>
              </a:rPr>
              <a:t>Wykorzystaj</a:t>
            </a:r>
            <a:r>
              <a:rPr dirty="0" sz="20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maksymalną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55">
                <a:solidFill>
                  <a:srgbClr val="1D1D1B"/>
                </a:solidFill>
                <a:latin typeface="Century Gothic"/>
                <a:cs typeface="Century Gothic"/>
              </a:rPr>
              <a:t>ilość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zdjęć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65">
                <a:solidFill>
                  <a:srgbClr val="1D1D1B"/>
                </a:solidFill>
                <a:latin typeface="Century Gothic"/>
                <a:cs typeface="Century Gothic"/>
              </a:rPr>
              <a:t>aukcjach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80">
                <a:solidFill>
                  <a:srgbClr val="1D1D1B"/>
                </a:solidFill>
                <a:latin typeface="Century Gothic"/>
                <a:cs typeface="Century Gothic"/>
              </a:rPr>
              <a:t>(w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80">
                <a:solidFill>
                  <a:srgbClr val="1D1D1B"/>
                </a:solidFill>
                <a:latin typeface="Century Gothic"/>
                <a:cs typeface="Century Gothic"/>
              </a:rPr>
              <a:t>tym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momencie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na </a:t>
            </a:r>
            <a:r>
              <a:rPr dirty="0" sz="2000" spc="80" b="1">
                <a:solidFill>
                  <a:srgbClr val="1D1D1B"/>
                </a:solidFill>
                <a:latin typeface="Arial"/>
                <a:cs typeface="Arial"/>
              </a:rPr>
              <a:t>Allegro</a:t>
            </a:r>
            <a:r>
              <a:rPr dirty="0" sz="2000" spc="114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000" spc="70" b="1">
                <a:solidFill>
                  <a:srgbClr val="1D1D1B"/>
                </a:solidFill>
                <a:latin typeface="Arial"/>
                <a:cs typeface="Arial"/>
              </a:rPr>
              <a:t>można</a:t>
            </a:r>
            <a:r>
              <a:rPr dirty="0" sz="2000" spc="114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D1D1B"/>
                </a:solidFill>
                <a:latin typeface="Arial"/>
                <a:cs typeface="Arial"/>
              </a:rPr>
              <a:t>ich</a:t>
            </a:r>
            <a:r>
              <a:rPr dirty="0" sz="2000" spc="114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1D1D1B"/>
                </a:solidFill>
                <a:latin typeface="Arial"/>
                <a:cs typeface="Arial"/>
              </a:rPr>
              <a:t>umieścić</a:t>
            </a:r>
            <a:r>
              <a:rPr dirty="0" sz="2000" spc="114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000" spc="95" b="1">
                <a:solidFill>
                  <a:srgbClr val="1D1D1B"/>
                </a:solidFill>
                <a:latin typeface="Arial"/>
                <a:cs typeface="Arial"/>
              </a:rPr>
              <a:t>aż</a:t>
            </a:r>
            <a:r>
              <a:rPr dirty="0" sz="2000" spc="12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1D1D1B"/>
                </a:solidFill>
                <a:latin typeface="Arial"/>
                <a:cs typeface="Arial"/>
              </a:rPr>
              <a:t>16</a:t>
            </a: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).</a:t>
            </a:r>
            <a:endParaRPr sz="2000">
              <a:latin typeface="Century Gothic"/>
              <a:cs typeface="Century Gothic"/>
            </a:endParaRPr>
          </a:p>
          <a:p>
            <a:pPr marL="12700" marR="939165">
              <a:lnSpc>
                <a:spcPct val="100000"/>
              </a:lnSpc>
              <a:spcBef>
                <a:spcPts val="142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Wybierz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kilka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aukcji,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cieszą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największym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zainteresowaniem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zrób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unikalne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zdjęcia.</a:t>
            </a:r>
            <a:endParaRPr sz="1300">
              <a:latin typeface="Century Gothic"/>
              <a:cs typeface="Century Gothic"/>
            </a:endParaRPr>
          </a:p>
          <a:p>
            <a:pPr marL="12700" marR="804545">
              <a:lnSpc>
                <a:spcPct val="100000"/>
              </a:lnSpc>
              <a:spcBef>
                <a:spcPts val="1560"/>
              </a:spcBef>
            </a:pP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Bez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5">
                <a:solidFill>
                  <a:srgbClr val="1D1D1B"/>
                </a:solidFill>
                <a:latin typeface="Century Gothic"/>
                <a:cs typeface="Century Gothic"/>
              </a:rPr>
              <a:t>obaw.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potrzebujesz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profesjonalnego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studia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drogiego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aparatu.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początek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wyjdź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podwórko.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naturalnym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świetle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będzie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prezentował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świetnie.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rozruch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zdjęcia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Twojego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smartfona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wystarczą.</a:t>
            </a:r>
            <a:endParaRPr sz="1300">
              <a:latin typeface="Century Gothic"/>
              <a:cs typeface="Century Gothic"/>
            </a:endParaRPr>
          </a:p>
          <a:p>
            <a:pPr marL="12700" marR="257810">
              <a:lnSpc>
                <a:spcPct val="100000"/>
              </a:lnSpc>
              <a:spcBef>
                <a:spcPts val="1560"/>
              </a:spcBef>
            </a:pP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Zrób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zdjęć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prezentując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całości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oraz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dodaj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kilka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zbliżeń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detali.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wystarczy,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zainteresować kupujących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oraz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wyróżnić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tle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innych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sprzedających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dokładnie ten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sam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produkt.</a:t>
            </a:r>
            <a:endParaRPr sz="1300">
              <a:latin typeface="Century Gothic"/>
              <a:cs typeface="Century Gothic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109" y="6456852"/>
            <a:ext cx="4720276" cy="22246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15"/>
              </a:spcBef>
            </a:pPr>
            <a:r>
              <a:rPr dirty="0" sz="6000" spc="-325"/>
              <a:t>3.</a:t>
            </a:r>
            <a:endParaRPr sz="6000"/>
          </a:p>
        </p:txBody>
      </p:sp>
      <p:sp>
        <p:nvSpPr>
          <p:cNvPr id="2" name="object 2"/>
          <p:cNvSpPr txBox="1"/>
          <p:nvPr/>
        </p:nvSpPr>
        <p:spPr>
          <a:xfrm>
            <a:off x="901291" y="3678261"/>
            <a:ext cx="5757545" cy="5156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00" spc="-160">
                <a:solidFill>
                  <a:srgbClr val="FFFFFF"/>
                </a:solidFill>
                <a:latin typeface="Arial Black"/>
                <a:cs typeface="Arial Black"/>
              </a:rPr>
              <a:t>Korzystają</a:t>
            </a:r>
            <a:r>
              <a:rPr dirty="0" sz="3200" spc="-1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z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60">
                <a:solidFill>
                  <a:srgbClr val="FFFFFF"/>
                </a:solidFill>
                <a:latin typeface="Arial Black"/>
                <a:cs typeface="Arial Black"/>
              </a:rPr>
              <a:t>wielu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90">
                <a:solidFill>
                  <a:srgbClr val="FFFFFF"/>
                </a:solidFill>
                <a:latin typeface="Arial Black"/>
                <a:cs typeface="Arial Black"/>
              </a:rPr>
              <a:t>kategorii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55912" y="10228987"/>
            <a:ext cx="2250440" cy="2311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FFFFFF"/>
                </a:solidFill>
                <a:latin typeface="Century Gothic"/>
                <a:cs typeface="Century Gothic"/>
              </a:rPr>
              <a:t>SekretyHandlu.pl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160">
                <a:solidFill>
                  <a:srgbClr val="FFFFFF"/>
                </a:solidFill>
                <a:latin typeface="Century Gothic"/>
                <a:cs typeface="Century Gothic"/>
              </a:rPr>
              <a:t>@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entury Gothic"/>
                <a:cs typeface="Century Gothic"/>
              </a:rPr>
              <a:t>2019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1363" y="1214310"/>
            <a:ext cx="4939030" cy="3985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6515">
              <a:lnSpc>
                <a:spcPct val="100000"/>
              </a:lnSpc>
              <a:spcBef>
                <a:spcPts val="100"/>
              </a:spcBef>
            </a:pP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Czy</a:t>
            </a:r>
            <a:r>
              <a:rPr dirty="0" sz="20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75">
                <a:solidFill>
                  <a:srgbClr val="1D1D1B"/>
                </a:solidFill>
                <a:latin typeface="Century Gothic"/>
                <a:cs typeface="Century Gothic"/>
              </a:rPr>
              <a:t>wiesz,</a:t>
            </a:r>
            <a:r>
              <a:rPr dirty="0" sz="20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5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20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20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sam</a:t>
            </a:r>
            <a:r>
              <a:rPr dirty="0" sz="20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20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75">
                <a:solidFill>
                  <a:srgbClr val="1D1D1B"/>
                </a:solidFill>
                <a:latin typeface="Century Gothic"/>
                <a:cs typeface="Century Gothic"/>
              </a:rPr>
              <a:t>możesz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wystawić</a:t>
            </a:r>
            <a:r>
              <a:rPr dirty="0" sz="2000" spc="1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2000" spc="1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wielu</a:t>
            </a:r>
            <a:r>
              <a:rPr dirty="0" sz="2000" spc="1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kategoriach?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ograniczaj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tych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najbardziej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oczywistych.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sama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zabawka,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znaleźć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zabawkach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właśnie, ale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dlaczego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by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wystawić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jej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również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kategorii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modeli.</a:t>
            </a:r>
            <a:endParaRPr sz="1300">
              <a:latin typeface="Century Gothic"/>
              <a:cs typeface="Century Gothic"/>
            </a:endParaRPr>
          </a:p>
          <a:p>
            <a:pPr marL="12700" marR="20764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Myśl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nieszablonowo.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Staraj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być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wszędzie,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gdzie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klienci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mogą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szukać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Twoich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produktów.</a:t>
            </a:r>
            <a:endParaRPr sz="1300">
              <a:latin typeface="Century Gothic"/>
              <a:cs typeface="Century Gothic"/>
            </a:endParaRPr>
          </a:p>
          <a:p>
            <a:pPr marL="12700" marR="59944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Czasem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nieoczywista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kategoria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80">
                <a:solidFill>
                  <a:srgbClr val="1D1D1B"/>
                </a:solidFill>
                <a:latin typeface="Century Gothic"/>
                <a:cs typeface="Century Gothic"/>
              </a:rPr>
              <a:t>dać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tę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przewagę,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nikt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inny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będzie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niej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wystawiał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produktów,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oferujesz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konkurencja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praktycznie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przestanie</a:t>
            </a:r>
            <a:r>
              <a:rPr dirty="0" sz="1300" spc="20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2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liczyć.</a:t>
            </a:r>
            <a:endParaRPr sz="1300">
              <a:latin typeface="Century Gothic"/>
              <a:cs typeface="Century Gothic"/>
            </a:endParaRPr>
          </a:p>
          <a:p>
            <a:pPr marL="12700" marR="441325">
              <a:lnSpc>
                <a:spcPct val="100000"/>
              </a:lnSpc>
              <a:spcBef>
                <a:spcPts val="1560"/>
              </a:spcBef>
            </a:pP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Wielokrotnie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widzimy,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ta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technika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potrafi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radykalnie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zwiększyć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sprzedaż.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55" b="1">
                <a:solidFill>
                  <a:srgbClr val="E94F1E"/>
                </a:solidFill>
                <a:latin typeface="Arial"/>
                <a:cs typeface="Arial"/>
              </a:rPr>
              <a:t>ZAWSZE</a:t>
            </a:r>
            <a:r>
              <a:rPr dirty="0" sz="1300" spc="125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E94F1E"/>
                </a:solidFill>
                <a:latin typeface="Arial"/>
                <a:cs typeface="Arial"/>
              </a:rPr>
              <a:t>staraj</a:t>
            </a:r>
            <a:r>
              <a:rPr dirty="0" sz="1300" spc="125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E94F1E"/>
                </a:solidFill>
                <a:latin typeface="Arial"/>
                <a:cs typeface="Arial"/>
              </a:rPr>
              <a:t>się</a:t>
            </a:r>
            <a:r>
              <a:rPr dirty="0" sz="1300" spc="130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E94F1E"/>
                </a:solidFill>
                <a:latin typeface="Arial"/>
                <a:cs typeface="Arial"/>
              </a:rPr>
              <a:t>wymyślić</a:t>
            </a:r>
            <a:r>
              <a:rPr dirty="0" sz="1300" spc="125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E94F1E"/>
                </a:solidFill>
                <a:latin typeface="Arial"/>
                <a:cs typeface="Arial"/>
              </a:rPr>
              <a:t>przynajmniej</a:t>
            </a:r>
            <a:r>
              <a:rPr dirty="0" sz="1300" spc="125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75" b="1">
                <a:solidFill>
                  <a:srgbClr val="E94F1E"/>
                </a:solidFill>
                <a:latin typeface="Arial"/>
                <a:cs typeface="Arial"/>
              </a:rPr>
              <a:t>2-3</a:t>
            </a:r>
            <a:r>
              <a:rPr dirty="0" sz="1300" spc="130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E94F1E"/>
                </a:solidFill>
                <a:latin typeface="Arial"/>
                <a:cs typeface="Arial"/>
              </a:rPr>
              <a:t>kategorie.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354" y="5559031"/>
            <a:ext cx="5551805" cy="2320290"/>
          </a:xfrm>
          <a:prstGeom prst="rect">
            <a:avLst/>
          </a:prstGeom>
          <a:ln w="22936">
            <a:solidFill>
              <a:srgbClr val="E94F1E"/>
            </a:solidFill>
          </a:ln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endParaRPr sz="1300">
              <a:latin typeface="Times New Roman"/>
              <a:cs typeface="Times New Roman"/>
            </a:endParaRPr>
          </a:p>
          <a:p>
            <a:pPr marL="431800" marR="369570" indent="-163830">
              <a:lnSpc>
                <a:spcPct val="200000"/>
              </a:lnSpc>
            </a:pP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Zrobiliśmy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wiele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testów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nierzadko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efekty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oszałamiające: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sam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kategoria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nr </a:t>
            </a:r>
            <a:r>
              <a:rPr dirty="0" sz="1300" spc="-155">
                <a:solidFill>
                  <a:srgbClr val="1D1D1B"/>
                </a:solidFill>
                <a:latin typeface="Century Gothic"/>
                <a:cs typeface="Century Gothic"/>
              </a:rPr>
              <a:t>1: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218</a:t>
            </a:r>
            <a:r>
              <a:rPr dirty="0" sz="1300" spc="6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sztuk</a:t>
            </a:r>
            <a:r>
              <a:rPr dirty="0" sz="1300" spc="6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sprzedanych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sam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kategoria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nr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2: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20" b="1">
                <a:solidFill>
                  <a:srgbClr val="1D1D1B"/>
                </a:solidFill>
                <a:latin typeface="Arial"/>
                <a:cs typeface="Arial"/>
              </a:rPr>
              <a:t>320</a:t>
            </a:r>
            <a:r>
              <a:rPr dirty="0" sz="1300" spc="6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sztuk</a:t>
            </a:r>
            <a:r>
              <a:rPr dirty="0" sz="1300" spc="6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sprzedanych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2000" spc="75">
                <a:solidFill>
                  <a:srgbClr val="1D1D1B"/>
                </a:solidFill>
                <a:latin typeface="Century Gothic"/>
                <a:cs typeface="Century Gothic"/>
              </a:rPr>
              <a:t>(</a:t>
            </a:r>
            <a:r>
              <a:rPr dirty="0" sz="2000" spc="75" b="1">
                <a:solidFill>
                  <a:srgbClr val="1D1D1B"/>
                </a:solidFill>
                <a:latin typeface="Arial"/>
                <a:cs typeface="Arial"/>
              </a:rPr>
              <a:t>wzrost</a:t>
            </a:r>
            <a:r>
              <a:rPr dirty="0" sz="2000" spc="5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000" spc="95" b="1">
                <a:solidFill>
                  <a:srgbClr val="1D1D1B"/>
                </a:solidFill>
                <a:latin typeface="Arial"/>
                <a:cs typeface="Arial"/>
              </a:rPr>
              <a:t>o</a:t>
            </a:r>
            <a:r>
              <a:rPr dirty="0" sz="2000" spc="5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2500" spc="125" b="1">
                <a:solidFill>
                  <a:srgbClr val="E94F1E"/>
                </a:solidFill>
                <a:latin typeface="Arial"/>
                <a:cs typeface="Arial"/>
              </a:rPr>
              <a:t>46,8%</a:t>
            </a:r>
            <a:r>
              <a:rPr dirty="0" sz="2000" spc="125">
                <a:solidFill>
                  <a:srgbClr val="1D1D1B"/>
                </a:solidFill>
                <a:latin typeface="Century Gothic"/>
                <a:cs typeface="Century Gothic"/>
              </a:rPr>
              <a:t>)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10008425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77"/>
                </a:lnTo>
                <a:lnTo>
                  <a:pt x="7560056" y="683577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/>
          <p:nvPr/>
        </p:nvSpPr>
        <p:spPr>
          <a:xfrm>
            <a:off x="3395713" y="1711206"/>
            <a:ext cx="768985" cy="942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55">
                <a:solidFill>
                  <a:srgbClr val="FFFFFF"/>
                </a:solidFill>
                <a:latin typeface="Arial Black"/>
                <a:cs typeface="Arial Black"/>
              </a:rPr>
              <a:t>4.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04348" y="3678274"/>
            <a:ext cx="5951855" cy="5156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00" spc="-110">
                <a:solidFill>
                  <a:srgbClr val="FFFFFF"/>
                </a:solidFill>
                <a:latin typeface="Arial Black"/>
                <a:cs typeface="Arial Black"/>
              </a:rPr>
              <a:t>Dodają</a:t>
            </a:r>
            <a:r>
              <a:rPr dirty="0" sz="3200" spc="-1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(bez-płatne)</a:t>
            </a:r>
            <a:r>
              <a:rPr dirty="0" sz="3200" spc="-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35">
                <a:solidFill>
                  <a:srgbClr val="FFFFFF"/>
                </a:solidFill>
                <a:latin typeface="Arial Black"/>
                <a:cs typeface="Arial Black"/>
              </a:rPr>
              <a:t>monety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55912" y="10228999"/>
            <a:ext cx="2250440" cy="2311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FFFFFF"/>
                </a:solidFill>
                <a:latin typeface="Century Gothic"/>
                <a:cs typeface="Century Gothic"/>
              </a:rPr>
              <a:t>SekretyHandlu.pl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160">
                <a:solidFill>
                  <a:srgbClr val="FFFFFF"/>
                </a:solidFill>
                <a:latin typeface="Century Gothic"/>
                <a:cs typeface="Century Gothic"/>
              </a:rPr>
              <a:t>@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entury Gothic"/>
                <a:cs typeface="Century Gothic"/>
              </a:rPr>
              <a:t>2019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1363" y="1214310"/>
            <a:ext cx="21297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Dlaczego</a:t>
            </a:r>
            <a:r>
              <a:rPr dirty="0" sz="2000" spc="-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warto?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1363" y="1806130"/>
            <a:ext cx="5033645" cy="260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652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Samo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Allegro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mówi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nam,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prawie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6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mln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kupujących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zbiera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Monety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wymienia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kupony,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trzeci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nich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kupuje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tylko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ofertach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monetami.</a:t>
            </a:r>
            <a:endParaRPr sz="1300">
              <a:latin typeface="Century Gothic"/>
              <a:cs typeface="Century Gothic"/>
            </a:endParaRPr>
          </a:p>
          <a:p>
            <a:pPr marL="12700" marR="18224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Oferty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wyróżnione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Monetami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wybierane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chętniej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18%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-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zgodnie</a:t>
            </a:r>
            <a:r>
              <a:rPr dirty="0" sz="1300" spc="2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ze</a:t>
            </a:r>
            <a:r>
              <a:rPr dirty="0" sz="1300" spc="2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statystyką</a:t>
            </a:r>
            <a:r>
              <a:rPr dirty="0" sz="1300" spc="2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Allegro.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Większe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zainteresowanie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kupujących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podbija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ofertę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0">
                <a:solidFill>
                  <a:srgbClr val="1D1D1B"/>
                </a:solidFill>
                <a:latin typeface="Century Gothic"/>
                <a:cs typeface="Century Gothic"/>
              </a:rPr>
              <a:t>w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trafności.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Dodatkowo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takie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aukcje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lepiej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widoczne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można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wyszukać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korzystając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filtra</a:t>
            </a:r>
            <a:r>
              <a:rPr dirty="0" sz="1300" spc="1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„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Oferta</a:t>
            </a:r>
            <a:r>
              <a:rPr dirty="0" sz="1300" spc="15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55" b="1">
                <a:solidFill>
                  <a:srgbClr val="1D1D1B"/>
                </a:solidFill>
                <a:latin typeface="Arial"/>
                <a:cs typeface="Arial"/>
              </a:rPr>
              <a:t>ma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50" b="1">
                <a:solidFill>
                  <a:srgbClr val="1D1D1B"/>
                </a:solidFill>
                <a:latin typeface="Arial"/>
                <a:cs typeface="Arial"/>
              </a:rPr>
              <a:t>Monety</a:t>
            </a:r>
            <a:r>
              <a:rPr dirty="0" sz="1300" spc="15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Allegro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”.</a:t>
            </a:r>
            <a:endParaRPr sz="1300">
              <a:latin typeface="Century Gothic"/>
              <a:cs typeface="Century Gothic"/>
            </a:endParaRPr>
          </a:p>
          <a:p>
            <a:pPr marL="12700" marR="19685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Dodaj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bezpłatne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monety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aukcji.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Nawet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nie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zapłaci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zwiększają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konwersję.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4354" y="5488216"/>
            <a:ext cx="5551805" cy="1905635"/>
          </a:xfrm>
          <a:prstGeom prst="rect">
            <a:avLst/>
          </a:prstGeom>
          <a:ln w="21551">
            <a:solidFill>
              <a:srgbClr val="E94F1E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300">
              <a:latin typeface="Times New Roman"/>
              <a:cs typeface="Times New Roman"/>
            </a:endParaRPr>
          </a:p>
          <a:p>
            <a:pPr marL="269240">
              <a:lnSpc>
                <a:spcPct val="100000"/>
              </a:lnSpc>
            </a:pPr>
            <a:r>
              <a:rPr dirty="0" sz="1300" spc="185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naszym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teście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zrobiliśmy </a:t>
            </a:r>
            <a:r>
              <a:rPr dirty="0" sz="1300" spc="-55">
                <a:solidFill>
                  <a:srgbClr val="1D1D1B"/>
                </a:solidFill>
                <a:latin typeface="Century Gothic"/>
                <a:cs typeface="Century Gothic"/>
              </a:rPr>
              <a:t>cenę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14" b="1">
                <a:solidFill>
                  <a:srgbClr val="1D1D1B"/>
                </a:solidFill>
                <a:latin typeface="Arial"/>
                <a:cs typeface="Arial"/>
              </a:rPr>
              <a:t>79,00</a:t>
            </a:r>
            <a:r>
              <a:rPr dirty="0" sz="1300" spc="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90" b="1">
                <a:solidFill>
                  <a:srgbClr val="1D1D1B"/>
                </a:solidFill>
                <a:latin typeface="Arial"/>
                <a:cs typeface="Arial"/>
              </a:rPr>
              <a:t>zł</a:t>
            </a:r>
            <a:r>
              <a:rPr dirty="0" sz="1300" spc="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oraz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5">
                <a:solidFill>
                  <a:srgbClr val="1D1D1B"/>
                </a:solidFill>
                <a:latin typeface="Century Gothic"/>
                <a:cs typeface="Century Gothic"/>
              </a:rPr>
              <a:t>cenę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 b="1">
                <a:solidFill>
                  <a:srgbClr val="1D1D1B"/>
                </a:solidFill>
                <a:latin typeface="Arial"/>
                <a:cs typeface="Arial"/>
              </a:rPr>
              <a:t>79,99</a:t>
            </a:r>
            <a:r>
              <a:rPr dirty="0" sz="1300" spc="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65" b="1">
                <a:solidFill>
                  <a:srgbClr val="1D1D1B"/>
                </a:solidFill>
                <a:latin typeface="Arial"/>
                <a:cs typeface="Arial"/>
              </a:rPr>
              <a:t>zł</a:t>
            </a:r>
            <a:endParaRPr sz="13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</a:pP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65">
                <a:solidFill>
                  <a:srgbClr val="1D1D1B"/>
                </a:solidFill>
                <a:latin typeface="Century Gothic"/>
                <a:cs typeface="Century Gothic"/>
              </a:rPr>
              <a:t>1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monetą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wartości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65">
                <a:solidFill>
                  <a:srgbClr val="1D1D1B"/>
                </a:solidFill>
                <a:latin typeface="Century Gothic"/>
                <a:cs typeface="Century Gothic"/>
              </a:rPr>
              <a:t>1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zł.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300">
              <a:latin typeface="Century Gothic"/>
              <a:cs typeface="Century Gothic"/>
            </a:endParaRPr>
          </a:p>
          <a:p>
            <a:pPr marL="269240" marR="229235">
              <a:lnSpc>
                <a:spcPct val="545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Faktycznie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płaci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sobie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tę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monetę,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i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właśnie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aukcja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cieszyła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lepszą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konwersją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aż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3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baseline="-20299" sz="3900" spc="-37" b="1">
                <a:solidFill>
                  <a:srgbClr val="E94F1E"/>
                </a:solidFill>
                <a:latin typeface="Arial"/>
                <a:cs typeface="Arial"/>
              </a:rPr>
              <a:t>14%</a:t>
            </a:r>
            <a:endParaRPr baseline="-20299" sz="3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51529" y="8167484"/>
            <a:ext cx="857250" cy="873760"/>
          </a:xfrm>
          <a:custGeom>
            <a:avLst/>
            <a:gdLst/>
            <a:ahLst/>
            <a:cxnLst/>
            <a:rect l="l" t="t" r="r" b="b"/>
            <a:pathLst>
              <a:path w="857250" h="873759">
                <a:moveTo>
                  <a:pt x="281406" y="0"/>
                </a:moveTo>
                <a:lnTo>
                  <a:pt x="222863" y="2539"/>
                </a:lnTo>
                <a:lnTo>
                  <a:pt x="165957" y="10159"/>
                </a:lnTo>
                <a:lnTo>
                  <a:pt x="113374" y="22859"/>
                </a:lnTo>
                <a:lnTo>
                  <a:pt x="67802" y="39369"/>
                </a:lnTo>
                <a:lnTo>
                  <a:pt x="31924" y="62229"/>
                </a:lnTo>
                <a:lnTo>
                  <a:pt x="0" y="119379"/>
                </a:lnTo>
                <a:lnTo>
                  <a:pt x="0" y="624839"/>
                </a:lnTo>
                <a:lnTo>
                  <a:pt x="31924" y="681989"/>
                </a:lnTo>
                <a:lnTo>
                  <a:pt x="67802" y="704849"/>
                </a:lnTo>
                <a:lnTo>
                  <a:pt x="113374" y="721359"/>
                </a:lnTo>
                <a:lnTo>
                  <a:pt x="165957" y="734059"/>
                </a:lnTo>
                <a:lnTo>
                  <a:pt x="222863" y="741679"/>
                </a:lnTo>
                <a:lnTo>
                  <a:pt x="281406" y="744219"/>
                </a:lnTo>
                <a:lnTo>
                  <a:pt x="294157" y="744219"/>
                </a:lnTo>
                <a:lnTo>
                  <a:pt x="294157" y="754379"/>
                </a:lnTo>
                <a:lnTo>
                  <a:pt x="326082" y="812799"/>
                </a:lnTo>
                <a:lnTo>
                  <a:pt x="361959" y="834389"/>
                </a:lnTo>
                <a:lnTo>
                  <a:pt x="407532" y="852169"/>
                </a:lnTo>
                <a:lnTo>
                  <a:pt x="460114" y="864869"/>
                </a:lnTo>
                <a:lnTo>
                  <a:pt x="517020" y="871219"/>
                </a:lnTo>
                <a:lnTo>
                  <a:pt x="575563" y="873759"/>
                </a:lnTo>
                <a:lnTo>
                  <a:pt x="634112" y="871219"/>
                </a:lnTo>
                <a:lnTo>
                  <a:pt x="691024" y="864869"/>
                </a:lnTo>
                <a:lnTo>
                  <a:pt x="743610" y="852169"/>
                </a:lnTo>
                <a:lnTo>
                  <a:pt x="776165" y="839469"/>
                </a:lnTo>
                <a:lnTo>
                  <a:pt x="575563" y="839469"/>
                </a:lnTo>
                <a:lnTo>
                  <a:pt x="508456" y="835659"/>
                </a:lnTo>
                <a:lnTo>
                  <a:pt x="449215" y="825499"/>
                </a:lnTo>
                <a:lnTo>
                  <a:pt x="399773" y="811529"/>
                </a:lnTo>
                <a:lnTo>
                  <a:pt x="362064" y="793749"/>
                </a:lnTo>
                <a:lnTo>
                  <a:pt x="329577" y="754379"/>
                </a:lnTo>
                <a:lnTo>
                  <a:pt x="329577" y="708659"/>
                </a:lnTo>
                <a:lnTo>
                  <a:pt x="281406" y="708659"/>
                </a:lnTo>
                <a:lnTo>
                  <a:pt x="214299" y="704849"/>
                </a:lnTo>
                <a:lnTo>
                  <a:pt x="155058" y="695959"/>
                </a:lnTo>
                <a:lnTo>
                  <a:pt x="105616" y="681989"/>
                </a:lnTo>
                <a:lnTo>
                  <a:pt x="67907" y="664209"/>
                </a:lnTo>
                <a:lnTo>
                  <a:pt x="35420" y="624839"/>
                </a:lnTo>
                <a:lnTo>
                  <a:pt x="35420" y="560069"/>
                </a:lnTo>
                <a:lnTo>
                  <a:pt x="115997" y="560069"/>
                </a:lnTo>
                <a:lnTo>
                  <a:pt x="107061" y="557529"/>
                </a:lnTo>
                <a:lnTo>
                  <a:pt x="69329" y="539749"/>
                </a:lnTo>
                <a:lnTo>
                  <a:pt x="62405" y="535939"/>
                </a:lnTo>
                <a:lnTo>
                  <a:pt x="56173" y="530859"/>
                </a:lnTo>
                <a:lnTo>
                  <a:pt x="50696" y="527049"/>
                </a:lnTo>
                <a:lnTo>
                  <a:pt x="46037" y="521969"/>
                </a:lnTo>
                <a:lnTo>
                  <a:pt x="40614" y="516889"/>
                </a:lnTo>
                <a:lnTo>
                  <a:pt x="37439" y="510539"/>
                </a:lnTo>
                <a:lnTo>
                  <a:pt x="35877" y="502919"/>
                </a:lnTo>
                <a:lnTo>
                  <a:pt x="35420" y="501649"/>
                </a:lnTo>
                <a:lnTo>
                  <a:pt x="35420" y="435609"/>
                </a:lnTo>
                <a:lnTo>
                  <a:pt x="115997" y="435609"/>
                </a:lnTo>
                <a:lnTo>
                  <a:pt x="107061" y="433069"/>
                </a:lnTo>
                <a:lnTo>
                  <a:pt x="69329" y="415289"/>
                </a:lnTo>
                <a:lnTo>
                  <a:pt x="62403" y="411479"/>
                </a:lnTo>
                <a:lnTo>
                  <a:pt x="56168" y="406399"/>
                </a:lnTo>
                <a:lnTo>
                  <a:pt x="50691" y="402589"/>
                </a:lnTo>
                <a:lnTo>
                  <a:pt x="46037" y="397509"/>
                </a:lnTo>
                <a:lnTo>
                  <a:pt x="40614" y="391159"/>
                </a:lnTo>
                <a:lnTo>
                  <a:pt x="37439" y="386079"/>
                </a:lnTo>
                <a:lnTo>
                  <a:pt x="35877" y="378459"/>
                </a:lnTo>
                <a:lnTo>
                  <a:pt x="35420" y="377189"/>
                </a:lnTo>
                <a:lnTo>
                  <a:pt x="35420" y="311149"/>
                </a:lnTo>
                <a:lnTo>
                  <a:pt x="120489" y="311149"/>
                </a:lnTo>
                <a:lnTo>
                  <a:pt x="107086" y="307339"/>
                </a:lnTo>
                <a:lnTo>
                  <a:pt x="69354" y="290829"/>
                </a:lnTo>
                <a:lnTo>
                  <a:pt x="62427" y="285749"/>
                </a:lnTo>
                <a:lnTo>
                  <a:pt x="56186" y="281939"/>
                </a:lnTo>
                <a:lnTo>
                  <a:pt x="50700" y="276859"/>
                </a:lnTo>
                <a:lnTo>
                  <a:pt x="46037" y="273049"/>
                </a:lnTo>
                <a:lnTo>
                  <a:pt x="40614" y="266699"/>
                </a:lnTo>
                <a:lnTo>
                  <a:pt x="37439" y="261619"/>
                </a:lnTo>
                <a:lnTo>
                  <a:pt x="35877" y="253999"/>
                </a:lnTo>
                <a:lnTo>
                  <a:pt x="35420" y="251459"/>
                </a:lnTo>
                <a:lnTo>
                  <a:pt x="35420" y="180339"/>
                </a:lnTo>
                <a:lnTo>
                  <a:pt x="114486" y="180339"/>
                </a:lnTo>
                <a:lnTo>
                  <a:pt x="79781" y="166369"/>
                </a:lnTo>
                <a:lnTo>
                  <a:pt x="71753" y="161289"/>
                </a:lnTo>
                <a:lnTo>
                  <a:pt x="64465" y="157479"/>
                </a:lnTo>
                <a:lnTo>
                  <a:pt x="57939" y="152399"/>
                </a:lnTo>
                <a:lnTo>
                  <a:pt x="35420" y="123189"/>
                </a:lnTo>
                <a:lnTo>
                  <a:pt x="35420" y="119379"/>
                </a:lnTo>
                <a:lnTo>
                  <a:pt x="67907" y="80009"/>
                </a:lnTo>
                <a:lnTo>
                  <a:pt x="105616" y="62229"/>
                </a:lnTo>
                <a:lnTo>
                  <a:pt x="155058" y="48259"/>
                </a:lnTo>
                <a:lnTo>
                  <a:pt x="214299" y="39369"/>
                </a:lnTo>
                <a:lnTo>
                  <a:pt x="281406" y="35559"/>
                </a:lnTo>
                <a:lnTo>
                  <a:pt x="484524" y="35559"/>
                </a:lnTo>
                <a:lnTo>
                  <a:pt x="449463" y="22859"/>
                </a:lnTo>
                <a:lnTo>
                  <a:pt x="396874" y="10159"/>
                </a:lnTo>
                <a:lnTo>
                  <a:pt x="339960" y="2539"/>
                </a:lnTo>
                <a:lnTo>
                  <a:pt x="281406" y="0"/>
                </a:lnTo>
                <a:close/>
              </a:path>
              <a:path w="857250" h="873759">
                <a:moveTo>
                  <a:pt x="856995" y="689609"/>
                </a:moveTo>
                <a:lnTo>
                  <a:pt x="821575" y="689609"/>
                </a:lnTo>
                <a:lnTo>
                  <a:pt x="821575" y="754379"/>
                </a:lnTo>
                <a:lnTo>
                  <a:pt x="813130" y="774699"/>
                </a:lnTo>
                <a:lnTo>
                  <a:pt x="751371" y="811529"/>
                </a:lnTo>
                <a:lnTo>
                  <a:pt x="701924" y="825499"/>
                </a:lnTo>
                <a:lnTo>
                  <a:pt x="642677" y="835659"/>
                </a:lnTo>
                <a:lnTo>
                  <a:pt x="575563" y="839469"/>
                </a:lnTo>
                <a:lnTo>
                  <a:pt x="776165" y="839469"/>
                </a:lnTo>
                <a:lnTo>
                  <a:pt x="789187" y="834389"/>
                </a:lnTo>
                <a:lnTo>
                  <a:pt x="825068" y="812799"/>
                </a:lnTo>
                <a:lnTo>
                  <a:pt x="848566" y="786129"/>
                </a:lnTo>
                <a:lnTo>
                  <a:pt x="856995" y="754379"/>
                </a:lnTo>
                <a:lnTo>
                  <a:pt x="856995" y="689609"/>
                </a:lnTo>
                <a:close/>
              </a:path>
              <a:path w="857250" h="873759">
                <a:moveTo>
                  <a:pt x="406629" y="689609"/>
                </a:moveTo>
                <a:lnTo>
                  <a:pt x="329577" y="689609"/>
                </a:lnTo>
                <a:lnTo>
                  <a:pt x="334908" y="693419"/>
                </a:lnTo>
                <a:lnTo>
                  <a:pt x="374986" y="715009"/>
                </a:lnTo>
                <a:lnTo>
                  <a:pt x="383019" y="718819"/>
                </a:lnTo>
                <a:lnTo>
                  <a:pt x="399827" y="723899"/>
                </a:lnTo>
                <a:lnTo>
                  <a:pt x="408608" y="727709"/>
                </a:lnTo>
                <a:lnTo>
                  <a:pt x="417588" y="730249"/>
                </a:lnTo>
                <a:lnTo>
                  <a:pt x="454632" y="737869"/>
                </a:lnTo>
                <a:lnTo>
                  <a:pt x="493904" y="744219"/>
                </a:lnTo>
                <a:lnTo>
                  <a:pt x="534512" y="748029"/>
                </a:lnTo>
                <a:lnTo>
                  <a:pt x="575563" y="749299"/>
                </a:lnTo>
                <a:lnTo>
                  <a:pt x="632839" y="746759"/>
                </a:lnTo>
                <a:lnTo>
                  <a:pt x="688578" y="740409"/>
                </a:lnTo>
                <a:lnTo>
                  <a:pt x="740281" y="727709"/>
                </a:lnTo>
                <a:lnTo>
                  <a:pt x="778498" y="713739"/>
                </a:lnTo>
                <a:lnTo>
                  <a:pt x="552107" y="713739"/>
                </a:lnTo>
                <a:lnTo>
                  <a:pt x="507584" y="711199"/>
                </a:lnTo>
                <a:lnTo>
                  <a:pt x="486613" y="707389"/>
                </a:lnTo>
                <a:lnTo>
                  <a:pt x="452780" y="702309"/>
                </a:lnTo>
                <a:lnTo>
                  <a:pt x="435109" y="697229"/>
                </a:lnTo>
                <a:lnTo>
                  <a:pt x="426682" y="695959"/>
                </a:lnTo>
                <a:lnTo>
                  <a:pt x="406629" y="689609"/>
                </a:lnTo>
                <a:close/>
              </a:path>
              <a:path w="857250" h="873759">
                <a:moveTo>
                  <a:pt x="856995" y="560069"/>
                </a:moveTo>
                <a:lnTo>
                  <a:pt x="821575" y="560069"/>
                </a:lnTo>
                <a:lnTo>
                  <a:pt x="821575" y="631189"/>
                </a:lnTo>
                <a:lnTo>
                  <a:pt x="821131" y="632459"/>
                </a:lnTo>
                <a:lnTo>
                  <a:pt x="819556" y="640079"/>
                </a:lnTo>
                <a:lnTo>
                  <a:pt x="816394" y="646429"/>
                </a:lnTo>
                <a:lnTo>
                  <a:pt x="810958" y="652779"/>
                </a:lnTo>
                <a:lnTo>
                  <a:pt x="806304" y="656589"/>
                </a:lnTo>
                <a:lnTo>
                  <a:pt x="800827" y="661669"/>
                </a:lnTo>
                <a:lnTo>
                  <a:pt x="794592" y="665479"/>
                </a:lnTo>
                <a:lnTo>
                  <a:pt x="787666" y="670559"/>
                </a:lnTo>
                <a:lnTo>
                  <a:pt x="749926" y="687069"/>
                </a:lnTo>
                <a:lnTo>
                  <a:pt x="700774" y="701039"/>
                </a:lnTo>
                <a:lnTo>
                  <a:pt x="642043" y="711199"/>
                </a:lnTo>
                <a:lnTo>
                  <a:pt x="575563" y="713739"/>
                </a:lnTo>
                <a:lnTo>
                  <a:pt x="778498" y="713739"/>
                </a:lnTo>
                <a:lnTo>
                  <a:pt x="785446" y="711199"/>
                </a:lnTo>
                <a:lnTo>
                  <a:pt x="821575" y="689609"/>
                </a:lnTo>
                <a:lnTo>
                  <a:pt x="856995" y="689609"/>
                </a:lnTo>
                <a:lnTo>
                  <a:pt x="856995" y="560069"/>
                </a:lnTo>
                <a:close/>
              </a:path>
              <a:path w="857250" h="873759">
                <a:moveTo>
                  <a:pt x="115997" y="560069"/>
                </a:moveTo>
                <a:lnTo>
                  <a:pt x="35420" y="560069"/>
                </a:lnTo>
                <a:lnTo>
                  <a:pt x="71547" y="581659"/>
                </a:lnTo>
                <a:lnTo>
                  <a:pt x="116709" y="598169"/>
                </a:lnTo>
                <a:lnTo>
                  <a:pt x="168406" y="609599"/>
                </a:lnTo>
                <a:lnTo>
                  <a:pt x="224138" y="617219"/>
                </a:lnTo>
                <a:lnTo>
                  <a:pt x="281406" y="619759"/>
                </a:lnTo>
                <a:lnTo>
                  <a:pt x="294157" y="619759"/>
                </a:lnTo>
                <a:lnTo>
                  <a:pt x="294157" y="708659"/>
                </a:lnTo>
                <a:lnTo>
                  <a:pt x="329577" y="708659"/>
                </a:lnTo>
                <a:lnTo>
                  <a:pt x="329577" y="689609"/>
                </a:lnTo>
                <a:lnTo>
                  <a:pt x="406629" y="689609"/>
                </a:lnTo>
                <a:lnTo>
                  <a:pt x="402654" y="688339"/>
                </a:lnTo>
                <a:lnTo>
                  <a:pt x="388148" y="681989"/>
                </a:lnTo>
                <a:lnTo>
                  <a:pt x="375078" y="676909"/>
                </a:lnTo>
                <a:lnTo>
                  <a:pt x="363486" y="670559"/>
                </a:lnTo>
                <a:lnTo>
                  <a:pt x="356561" y="665479"/>
                </a:lnTo>
                <a:lnTo>
                  <a:pt x="350326" y="661669"/>
                </a:lnTo>
                <a:lnTo>
                  <a:pt x="344848" y="656589"/>
                </a:lnTo>
                <a:lnTo>
                  <a:pt x="340194" y="652779"/>
                </a:lnTo>
                <a:lnTo>
                  <a:pt x="334759" y="646429"/>
                </a:lnTo>
                <a:lnTo>
                  <a:pt x="331596" y="640079"/>
                </a:lnTo>
                <a:lnTo>
                  <a:pt x="330022" y="632459"/>
                </a:lnTo>
                <a:lnTo>
                  <a:pt x="329577" y="631189"/>
                </a:lnTo>
                <a:lnTo>
                  <a:pt x="329577" y="584199"/>
                </a:lnTo>
                <a:lnTo>
                  <a:pt x="281406" y="584199"/>
                </a:lnTo>
                <a:lnTo>
                  <a:pt x="214934" y="580389"/>
                </a:lnTo>
                <a:lnTo>
                  <a:pt x="156208" y="571499"/>
                </a:lnTo>
                <a:lnTo>
                  <a:pt x="115997" y="560069"/>
                </a:lnTo>
                <a:close/>
              </a:path>
              <a:path w="857250" h="873759">
                <a:moveTo>
                  <a:pt x="409895" y="560069"/>
                </a:moveTo>
                <a:lnTo>
                  <a:pt x="329577" y="560069"/>
                </a:lnTo>
                <a:lnTo>
                  <a:pt x="336794" y="565149"/>
                </a:lnTo>
                <a:lnTo>
                  <a:pt x="344562" y="570229"/>
                </a:lnTo>
                <a:lnTo>
                  <a:pt x="352860" y="574039"/>
                </a:lnTo>
                <a:lnTo>
                  <a:pt x="361670" y="579119"/>
                </a:lnTo>
                <a:lnTo>
                  <a:pt x="369253" y="582929"/>
                </a:lnTo>
                <a:lnTo>
                  <a:pt x="377145" y="585469"/>
                </a:lnTo>
                <a:lnTo>
                  <a:pt x="385323" y="589279"/>
                </a:lnTo>
                <a:lnTo>
                  <a:pt x="411002" y="596899"/>
                </a:lnTo>
                <a:lnTo>
                  <a:pt x="429107" y="601979"/>
                </a:lnTo>
                <a:lnTo>
                  <a:pt x="476907" y="612139"/>
                </a:lnTo>
                <a:lnTo>
                  <a:pt x="527430" y="617219"/>
                </a:lnTo>
                <a:lnTo>
                  <a:pt x="533323" y="618489"/>
                </a:lnTo>
                <a:lnTo>
                  <a:pt x="567093" y="618489"/>
                </a:lnTo>
                <a:lnTo>
                  <a:pt x="571334" y="619759"/>
                </a:lnTo>
                <a:lnTo>
                  <a:pt x="575563" y="619759"/>
                </a:lnTo>
                <a:lnTo>
                  <a:pt x="632839" y="617219"/>
                </a:lnTo>
                <a:lnTo>
                  <a:pt x="688578" y="609599"/>
                </a:lnTo>
                <a:lnTo>
                  <a:pt x="740281" y="596899"/>
                </a:lnTo>
                <a:lnTo>
                  <a:pt x="775024" y="584199"/>
                </a:lnTo>
                <a:lnTo>
                  <a:pt x="562851" y="584199"/>
                </a:lnTo>
                <a:lnTo>
                  <a:pt x="556894" y="582929"/>
                </a:lnTo>
                <a:lnTo>
                  <a:pt x="533247" y="582929"/>
                </a:lnTo>
                <a:lnTo>
                  <a:pt x="527430" y="581659"/>
                </a:lnTo>
                <a:lnTo>
                  <a:pt x="519436" y="581659"/>
                </a:lnTo>
                <a:lnTo>
                  <a:pt x="511563" y="580389"/>
                </a:lnTo>
                <a:lnTo>
                  <a:pt x="503808" y="580389"/>
                </a:lnTo>
                <a:lnTo>
                  <a:pt x="496163" y="579119"/>
                </a:lnTo>
                <a:lnTo>
                  <a:pt x="463156" y="574039"/>
                </a:lnTo>
                <a:lnTo>
                  <a:pt x="454239" y="571499"/>
                </a:lnTo>
                <a:lnTo>
                  <a:pt x="445569" y="570229"/>
                </a:lnTo>
                <a:lnTo>
                  <a:pt x="428993" y="565149"/>
                </a:lnTo>
                <a:lnTo>
                  <a:pt x="413491" y="561339"/>
                </a:lnTo>
                <a:lnTo>
                  <a:pt x="409895" y="560069"/>
                </a:lnTo>
                <a:close/>
              </a:path>
              <a:path w="857250" h="873759">
                <a:moveTo>
                  <a:pt x="330352" y="494029"/>
                </a:moveTo>
                <a:lnTo>
                  <a:pt x="294716" y="494029"/>
                </a:lnTo>
                <a:lnTo>
                  <a:pt x="294652" y="495299"/>
                </a:lnTo>
                <a:lnTo>
                  <a:pt x="294589" y="496569"/>
                </a:lnTo>
                <a:lnTo>
                  <a:pt x="294157" y="497839"/>
                </a:lnTo>
                <a:lnTo>
                  <a:pt x="294157" y="584199"/>
                </a:lnTo>
                <a:lnTo>
                  <a:pt x="329577" y="584199"/>
                </a:lnTo>
                <a:lnTo>
                  <a:pt x="329577" y="560069"/>
                </a:lnTo>
                <a:lnTo>
                  <a:pt x="409895" y="560069"/>
                </a:lnTo>
                <a:lnTo>
                  <a:pt x="399107" y="556259"/>
                </a:lnTo>
                <a:lnTo>
                  <a:pt x="385898" y="551179"/>
                </a:lnTo>
                <a:lnTo>
                  <a:pt x="373926" y="544829"/>
                </a:lnTo>
                <a:lnTo>
                  <a:pt x="370395" y="543559"/>
                </a:lnTo>
                <a:lnTo>
                  <a:pt x="367106" y="542289"/>
                </a:lnTo>
                <a:lnTo>
                  <a:pt x="351218" y="532129"/>
                </a:lnTo>
                <a:lnTo>
                  <a:pt x="344246" y="525779"/>
                </a:lnTo>
                <a:lnTo>
                  <a:pt x="342188" y="524509"/>
                </a:lnTo>
                <a:lnTo>
                  <a:pt x="336664" y="518159"/>
                </a:lnTo>
                <a:lnTo>
                  <a:pt x="334060" y="514349"/>
                </a:lnTo>
                <a:lnTo>
                  <a:pt x="331431" y="507999"/>
                </a:lnTo>
                <a:lnTo>
                  <a:pt x="330796" y="506729"/>
                </a:lnTo>
                <a:lnTo>
                  <a:pt x="330022" y="502919"/>
                </a:lnTo>
                <a:lnTo>
                  <a:pt x="329577" y="501649"/>
                </a:lnTo>
                <a:lnTo>
                  <a:pt x="329577" y="497839"/>
                </a:lnTo>
                <a:lnTo>
                  <a:pt x="330022" y="495299"/>
                </a:lnTo>
                <a:lnTo>
                  <a:pt x="330352" y="494029"/>
                </a:lnTo>
                <a:close/>
              </a:path>
              <a:path w="857250" h="873759">
                <a:moveTo>
                  <a:pt x="778670" y="415289"/>
                </a:moveTo>
                <a:lnTo>
                  <a:pt x="575563" y="415289"/>
                </a:lnTo>
                <a:lnTo>
                  <a:pt x="642677" y="417829"/>
                </a:lnTo>
                <a:lnTo>
                  <a:pt x="701924" y="427989"/>
                </a:lnTo>
                <a:lnTo>
                  <a:pt x="751371" y="441959"/>
                </a:lnTo>
                <a:lnTo>
                  <a:pt x="789084" y="459739"/>
                </a:lnTo>
                <a:lnTo>
                  <a:pt x="813130" y="478789"/>
                </a:lnTo>
                <a:lnTo>
                  <a:pt x="821575" y="499109"/>
                </a:lnTo>
                <a:lnTo>
                  <a:pt x="821575" y="502919"/>
                </a:lnTo>
                <a:lnTo>
                  <a:pt x="804811" y="527049"/>
                </a:lnTo>
                <a:lnTo>
                  <a:pt x="799067" y="532129"/>
                </a:lnTo>
                <a:lnTo>
                  <a:pt x="739346" y="560069"/>
                </a:lnTo>
                <a:lnTo>
                  <a:pt x="692157" y="572769"/>
                </a:lnTo>
                <a:lnTo>
                  <a:pt x="637084" y="580389"/>
                </a:lnTo>
                <a:lnTo>
                  <a:pt x="575563" y="584199"/>
                </a:lnTo>
                <a:lnTo>
                  <a:pt x="775024" y="584199"/>
                </a:lnTo>
                <a:lnTo>
                  <a:pt x="785446" y="580389"/>
                </a:lnTo>
                <a:lnTo>
                  <a:pt x="821575" y="560069"/>
                </a:lnTo>
                <a:lnTo>
                  <a:pt x="856995" y="560069"/>
                </a:lnTo>
                <a:lnTo>
                  <a:pt x="856995" y="499109"/>
                </a:lnTo>
                <a:lnTo>
                  <a:pt x="848566" y="468629"/>
                </a:lnTo>
                <a:lnTo>
                  <a:pt x="825068" y="441959"/>
                </a:lnTo>
                <a:lnTo>
                  <a:pt x="789187" y="419099"/>
                </a:lnTo>
                <a:lnTo>
                  <a:pt x="778670" y="415289"/>
                </a:lnTo>
                <a:close/>
              </a:path>
              <a:path w="857250" h="873759">
                <a:moveTo>
                  <a:pt x="115997" y="435609"/>
                </a:moveTo>
                <a:lnTo>
                  <a:pt x="35420" y="435609"/>
                </a:lnTo>
                <a:lnTo>
                  <a:pt x="71547" y="455929"/>
                </a:lnTo>
                <a:lnTo>
                  <a:pt x="116709" y="472439"/>
                </a:lnTo>
                <a:lnTo>
                  <a:pt x="168406" y="485139"/>
                </a:lnTo>
                <a:lnTo>
                  <a:pt x="224138" y="492759"/>
                </a:lnTo>
                <a:lnTo>
                  <a:pt x="281406" y="495299"/>
                </a:lnTo>
                <a:lnTo>
                  <a:pt x="285838" y="495299"/>
                </a:lnTo>
                <a:lnTo>
                  <a:pt x="290271" y="494029"/>
                </a:lnTo>
                <a:lnTo>
                  <a:pt x="330352" y="494029"/>
                </a:lnTo>
                <a:lnTo>
                  <a:pt x="332333" y="486409"/>
                </a:lnTo>
                <a:lnTo>
                  <a:pt x="336613" y="480059"/>
                </a:lnTo>
                <a:lnTo>
                  <a:pt x="343026" y="473709"/>
                </a:lnTo>
                <a:lnTo>
                  <a:pt x="349594" y="468629"/>
                </a:lnTo>
                <a:lnTo>
                  <a:pt x="357381" y="462279"/>
                </a:lnTo>
                <a:lnTo>
                  <a:pt x="361862" y="459739"/>
                </a:lnTo>
                <a:lnTo>
                  <a:pt x="281406" y="459739"/>
                </a:lnTo>
                <a:lnTo>
                  <a:pt x="214934" y="455929"/>
                </a:lnTo>
                <a:lnTo>
                  <a:pt x="156208" y="447039"/>
                </a:lnTo>
                <a:lnTo>
                  <a:pt x="115997" y="435609"/>
                </a:lnTo>
                <a:close/>
              </a:path>
              <a:path w="857250" h="873759">
                <a:moveTo>
                  <a:pt x="562851" y="311149"/>
                </a:moveTo>
                <a:lnTo>
                  <a:pt x="527430" y="311149"/>
                </a:lnTo>
                <a:lnTo>
                  <a:pt x="527430" y="377189"/>
                </a:lnTo>
                <a:lnTo>
                  <a:pt x="526986" y="378459"/>
                </a:lnTo>
                <a:lnTo>
                  <a:pt x="526643" y="379729"/>
                </a:lnTo>
                <a:lnTo>
                  <a:pt x="526529" y="380999"/>
                </a:lnTo>
                <a:lnTo>
                  <a:pt x="526389" y="380999"/>
                </a:lnTo>
                <a:lnTo>
                  <a:pt x="473895" y="387349"/>
                </a:lnTo>
                <a:lnTo>
                  <a:pt x="424459" y="397509"/>
                </a:lnTo>
                <a:lnTo>
                  <a:pt x="384124" y="410209"/>
                </a:lnTo>
                <a:lnTo>
                  <a:pt x="335219" y="434339"/>
                </a:lnTo>
                <a:lnTo>
                  <a:pt x="309003" y="458469"/>
                </a:lnTo>
                <a:lnTo>
                  <a:pt x="302194" y="458469"/>
                </a:lnTo>
                <a:lnTo>
                  <a:pt x="295328" y="459739"/>
                </a:lnTo>
                <a:lnTo>
                  <a:pt x="361862" y="459739"/>
                </a:lnTo>
                <a:lnTo>
                  <a:pt x="366344" y="457199"/>
                </a:lnTo>
                <a:lnTo>
                  <a:pt x="376440" y="452119"/>
                </a:lnTo>
                <a:lnTo>
                  <a:pt x="422368" y="434339"/>
                </a:lnTo>
                <a:lnTo>
                  <a:pt x="480555" y="421639"/>
                </a:lnTo>
                <a:lnTo>
                  <a:pt x="523278" y="416559"/>
                </a:lnTo>
                <a:lnTo>
                  <a:pt x="534719" y="416559"/>
                </a:lnTo>
                <a:lnTo>
                  <a:pt x="545455" y="415289"/>
                </a:lnTo>
                <a:lnTo>
                  <a:pt x="778670" y="415289"/>
                </a:lnTo>
                <a:lnTo>
                  <a:pt x="743610" y="402589"/>
                </a:lnTo>
                <a:lnTo>
                  <a:pt x="691024" y="389889"/>
                </a:lnTo>
                <a:lnTo>
                  <a:pt x="634112" y="382269"/>
                </a:lnTo>
                <a:lnTo>
                  <a:pt x="575563" y="379729"/>
                </a:lnTo>
                <a:lnTo>
                  <a:pt x="562851" y="379729"/>
                </a:lnTo>
                <a:lnTo>
                  <a:pt x="562851" y="311149"/>
                </a:lnTo>
                <a:close/>
              </a:path>
              <a:path w="857250" h="873759">
                <a:moveTo>
                  <a:pt x="120489" y="311149"/>
                </a:moveTo>
                <a:lnTo>
                  <a:pt x="35420" y="311149"/>
                </a:lnTo>
                <a:lnTo>
                  <a:pt x="71547" y="331469"/>
                </a:lnTo>
                <a:lnTo>
                  <a:pt x="116709" y="347979"/>
                </a:lnTo>
                <a:lnTo>
                  <a:pt x="168406" y="360679"/>
                </a:lnTo>
                <a:lnTo>
                  <a:pt x="224138" y="367029"/>
                </a:lnTo>
                <a:lnTo>
                  <a:pt x="281406" y="369569"/>
                </a:lnTo>
                <a:lnTo>
                  <a:pt x="338683" y="367029"/>
                </a:lnTo>
                <a:lnTo>
                  <a:pt x="394426" y="360679"/>
                </a:lnTo>
                <a:lnTo>
                  <a:pt x="446132" y="347979"/>
                </a:lnTo>
                <a:lnTo>
                  <a:pt x="480877" y="335279"/>
                </a:lnTo>
                <a:lnTo>
                  <a:pt x="281406" y="335279"/>
                </a:lnTo>
                <a:lnTo>
                  <a:pt x="214949" y="331469"/>
                </a:lnTo>
                <a:lnTo>
                  <a:pt x="156230" y="321309"/>
                </a:lnTo>
                <a:lnTo>
                  <a:pt x="120489" y="311149"/>
                </a:lnTo>
                <a:close/>
              </a:path>
              <a:path w="857250" h="873759">
                <a:moveTo>
                  <a:pt x="562851" y="180339"/>
                </a:moveTo>
                <a:lnTo>
                  <a:pt x="527430" y="180339"/>
                </a:lnTo>
                <a:lnTo>
                  <a:pt x="527430" y="251459"/>
                </a:lnTo>
                <a:lnTo>
                  <a:pt x="526986" y="253999"/>
                </a:lnTo>
                <a:lnTo>
                  <a:pt x="525411" y="261619"/>
                </a:lnTo>
                <a:lnTo>
                  <a:pt x="522236" y="266699"/>
                </a:lnTo>
                <a:lnTo>
                  <a:pt x="516813" y="273049"/>
                </a:lnTo>
                <a:lnTo>
                  <a:pt x="512150" y="276859"/>
                </a:lnTo>
                <a:lnTo>
                  <a:pt x="506664" y="281939"/>
                </a:lnTo>
                <a:lnTo>
                  <a:pt x="500424" y="285749"/>
                </a:lnTo>
                <a:lnTo>
                  <a:pt x="493496" y="290829"/>
                </a:lnTo>
                <a:lnTo>
                  <a:pt x="455756" y="307339"/>
                </a:lnTo>
                <a:lnTo>
                  <a:pt x="406606" y="321309"/>
                </a:lnTo>
                <a:lnTo>
                  <a:pt x="347878" y="331469"/>
                </a:lnTo>
                <a:lnTo>
                  <a:pt x="281406" y="335279"/>
                </a:lnTo>
                <a:lnTo>
                  <a:pt x="480877" y="335279"/>
                </a:lnTo>
                <a:lnTo>
                  <a:pt x="491300" y="331469"/>
                </a:lnTo>
                <a:lnTo>
                  <a:pt x="527430" y="311149"/>
                </a:lnTo>
                <a:lnTo>
                  <a:pt x="562851" y="311149"/>
                </a:lnTo>
                <a:lnTo>
                  <a:pt x="562851" y="180339"/>
                </a:lnTo>
                <a:close/>
              </a:path>
              <a:path w="857250" h="873759">
                <a:moveTo>
                  <a:pt x="114486" y="180339"/>
                </a:moveTo>
                <a:lnTo>
                  <a:pt x="35420" y="180339"/>
                </a:lnTo>
                <a:lnTo>
                  <a:pt x="71547" y="200659"/>
                </a:lnTo>
                <a:lnTo>
                  <a:pt x="116709" y="218439"/>
                </a:lnTo>
                <a:lnTo>
                  <a:pt x="168406" y="229869"/>
                </a:lnTo>
                <a:lnTo>
                  <a:pt x="224138" y="237489"/>
                </a:lnTo>
                <a:lnTo>
                  <a:pt x="281406" y="240029"/>
                </a:lnTo>
                <a:lnTo>
                  <a:pt x="338683" y="237489"/>
                </a:lnTo>
                <a:lnTo>
                  <a:pt x="394426" y="229869"/>
                </a:lnTo>
                <a:lnTo>
                  <a:pt x="446132" y="218439"/>
                </a:lnTo>
                <a:lnTo>
                  <a:pt x="481621" y="204469"/>
                </a:lnTo>
                <a:lnTo>
                  <a:pt x="281406" y="204469"/>
                </a:lnTo>
                <a:lnTo>
                  <a:pt x="219893" y="201929"/>
                </a:lnTo>
                <a:lnTo>
                  <a:pt x="164825" y="193039"/>
                </a:lnTo>
                <a:lnTo>
                  <a:pt x="117641" y="181609"/>
                </a:lnTo>
                <a:lnTo>
                  <a:pt x="114486" y="180339"/>
                </a:lnTo>
                <a:close/>
              </a:path>
              <a:path w="857250" h="873759">
                <a:moveTo>
                  <a:pt x="484524" y="35559"/>
                </a:moveTo>
                <a:lnTo>
                  <a:pt x="281406" y="35559"/>
                </a:lnTo>
                <a:lnTo>
                  <a:pt x="348525" y="39369"/>
                </a:lnTo>
                <a:lnTo>
                  <a:pt x="407776" y="48259"/>
                </a:lnTo>
                <a:lnTo>
                  <a:pt x="457225" y="62229"/>
                </a:lnTo>
                <a:lnTo>
                  <a:pt x="494939" y="80009"/>
                </a:lnTo>
                <a:lnTo>
                  <a:pt x="518985" y="100329"/>
                </a:lnTo>
                <a:lnTo>
                  <a:pt x="527430" y="119379"/>
                </a:lnTo>
                <a:lnTo>
                  <a:pt x="527430" y="123189"/>
                </a:lnTo>
                <a:lnTo>
                  <a:pt x="504910" y="152399"/>
                </a:lnTo>
                <a:lnTo>
                  <a:pt x="498381" y="157479"/>
                </a:lnTo>
                <a:lnTo>
                  <a:pt x="491092" y="161289"/>
                </a:lnTo>
                <a:lnTo>
                  <a:pt x="483069" y="166369"/>
                </a:lnTo>
                <a:lnTo>
                  <a:pt x="445202" y="181609"/>
                </a:lnTo>
                <a:lnTo>
                  <a:pt x="398011" y="193039"/>
                </a:lnTo>
                <a:lnTo>
                  <a:pt x="342934" y="201929"/>
                </a:lnTo>
                <a:lnTo>
                  <a:pt x="281406" y="204469"/>
                </a:lnTo>
                <a:lnTo>
                  <a:pt x="481621" y="204469"/>
                </a:lnTo>
                <a:lnTo>
                  <a:pt x="491300" y="200659"/>
                </a:lnTo>
                <a:lnTo>
                  <a:pt x="527430" y="180339"/>
                </a:lnTo>
                <a:lnTo>
                  <a:pt x="562851" y="180339"/>
                </a:lnTo>
                <a:lnTo>
                  <a:pt x="562851" y="119379"/>
                </a:lnTo>
                <a:lnTo>
                  <a:pt x="554421" y="88899"/>
                </a:lnTo>
                <a:lnTo>
                  <a:pt x="530923" y="62229"/>
                </a:lnTo>
                <a:lnTo>
                  <a:pt x="495042" y="39369"/>
                </a:lnTo>
                <a:lnTo>
                  <a:pt x="484524" y="35559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15"/>
              </a:spcBef>
            </a:pPr>
            <a:r>
              <a:rPr dirty="0" sz="6000" spc="-295"/>
              <a:t>5.</a:t>
            </a:r>
            <a:endParaRPr sz="6000"/>
          </a:p>
        </p:txBody>
      </p:sp>
      <p:sp>
        <p:nvSpPr>
          <p:cNvPr id="2" name="object 2"/>
          <p:cNvSpPr txBox="1"/>
          <p:nvPr/>
        </p:nvSpPr>
        <p:spPr>
          <a:xfrm>
            <a:off x="1151335" y="3678274"/>
            <a:ext cx="5257800" cy="5156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00" spc="-175">
                <a:solidFill>
                  <a:srgbClr val="FFFFFF"/>
                </a:solidFill>
                <a:latin typeface="Arial Black"/>
                <a:cs typeface="Arial Black"/>
              </a:rPr>
              <a:t>Tworzą</a:t>
            </a:r>
            <a:r>
              <a:rPr dirty="0" sz="3200" spc="-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75">
                <a:solidFill>
                  <a:srgbClr val="FFFFFF"/>
                </a:solidFill>
                <a:latin typeface="Arial Black"/>
                <a:cs typeface="Arial Black"/>
              </a:rPr>
              <a:t>zestawy</a:t>
            </a:r>
            <a:r>
              <a:rPr dirty="0" sz="3200" spc="-1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0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dirty="0" sz="3200" spc="-1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65">
                <a:solidFill>
                  <a:srgbClr val="FFFFFF"/>
                </a:solidFill>
                <a:latin typeface="Arial Black"/>
                <a:cs typeface="Arial Black"/>
              </a:rPr>
              <a:t>pakiety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363" y="766800"/>
            <a:ext cx="5033645" cy="3893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1475">
              <a:lnSpc>
                <a:spcPct val="100000"/>
              </a:lnSpc>
              <a:spcBef>
                <a:spcPts val="100"/>
              </a:spcBef>
            </a:pPr>
            <a:r>
              <a:rPr dirty="0" sz="2000" spc="120">
                <a:solidFill>
                  <a:srgbClr val="1D1D1B"/>
                </a:solidFill>
                <a:latin typeface="Century Gothic"/>
                <a:cs typeface="Century Gothic"/>
              </a:rPr>
              <a:t>Zrób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90">
                <a:solidFill>
                  <a:srgbClr val="1D1D1B"/>
                </a:solidFill>
                <a:latin typeface="Century Gothic"/>
                <a:cs typeface="Century Gothic"/>
              </a:rPr>
              <a:t>wszystko,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20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wykreować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sensowny</a:t>
            </a:r>
            <a:r>
              <a:rPr dirty="0" sz="20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pakiet</a:t>
            </a:r>
            <a:r>
              <a:rPr dirty="0" sz="20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40">
                <a:solidFill>
                  <a:srgbClr val="1D1D1B"/>
                </a:solidFill>
                <a:latin typeface="Century Gothic"/>
                <a:cs typeface="Century Gothic"/>
              </a:rPr>
              <a:t>wzbogacający</a:t>
            </a:r>
            <a:r>
              <a:rPr dirty="0" sz="20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65">
                <a:solidFill>
                  <a:srgbClr val="1D1D1B"/>
                </a:solidFill>
                <a:latin typeface="Century Gothic"/>
                <a:cs typeface="Century Gothic"/>
              </a:rPr>
              <a:t>Twój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podstawowy</a:t>
            </a:r>
            <a:r>
              <a:rPr dirty="0" sz="20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produkt.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Zrób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zestawy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pakiety.</a:t>
            </a:r>
            <a:endParaRPr sz="1300">
              <a:latin typeface="Century Gothic"/>
              <a:cs typeface="Century Gothic"/>
            </a:endParaRPr>
          </a:p>
          <a:p>
            <a:pPr marL="12700" marR="15684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droższego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produktu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dodaj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tańszy,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który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uzupełnia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go,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który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potrzebny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osiągnąć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efekt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poszukiwany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przez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klienta.</a:t>
            </a:r>
            <a:endParaRPr sz="1300">
              <a:latin typeface="Century Gothic"/>
              <a:cs typeface="Century Gothic"/>
            </a:endParaRPr>
          </a:p>
          <a:p>
            <a:pPr marL="12700" marR="288925">
              <a:lnSpc>
                <a:spcPct val="100000"/>
              </a:lnSpc>
              <a:spcBef>
                <a:spcPts val="1560"/>
              </a:spcBef>
            </a:pP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Najprostszym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elementem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logiczne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dodatki.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często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zdarzyło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kupić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jakiś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sprzęt.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Radośnie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odpakowujesz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chcesz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razu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cieszyć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nowy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nabytkiem,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tu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okazuje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się,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brakuje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jeszcze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jakiegoś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kabla,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złączki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lub</a:t>
            </a:r>
            <a:r>
              <a:rPr dirty="0" sz="1300" spc="5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akumulatora.</a:t>
            </a:r>
            <a:endParaRPr sz="1300">
              <a:latin typeface="Century Gothic"/>
              <a:cs typeface="Century Gothic"/>
            </a:endParaRPr>
          </a:p>
          <a:p>
            <a:pPr marL="12700" marR="3225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Idealny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element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taki,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który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zwiększa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efekt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dostarczany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przez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podstawowy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-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sprawia,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masz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więcej,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354" y="4945481"/>
            <a:ext cx="5551805" cy="1788795"/>
          </a:xfrm>
          <a:prstGeom prst="rect">
            <a:avLst/>
          </a:prstGeom>
          <a:ln w="20142">
            <a:solidFill>
              <a:srgbClr val="E94F1E"/>
            </a:solidFill>
          </a:ln>
        </p:spPr>
        <p:txBody>
          <a:bodyPr wrap="square" lIns="0" tIns="876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90"/>
              </a:spcBef>
            </a:pPr>
            <a:endParaRPr sz="1300">
              <a:latin typeface="Times New Roman"/>
              <a:cs typeface="Times New Roman"/>
            </a:endParaRPr>
          </a:p>
          <a:p>
            <a:pPr marL="269240">
              <a:lnSpc>
                <a:spcPct val="100000"/>
              </a:lnSpc>
            </a:pP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Zrobiliśmy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mały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test.</a:t>
            </a:r>
            <a:endParaRPr sz="1300">
              <a:latin typeface="Century Gothic"/>
              <a:cs typeface="Century Gothic"/>
            </a:endParaRPr>
          </a:p>
          <a:p>
            <a:pPr marL="269240" marR="963294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nr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5">
                <a:solidFill>
                  <a:srgbClr val="1D1D1B"/>
                </a:solidFill>
                <a:latin typeface="Century Gothic"/>
                <a:cs typeface="Century Gothic"/>
              </a:rPr>
              <a:t>1: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bez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pakietu,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tylko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podstawowy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produkt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nr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2: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pakiecie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elementem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dodatkowym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(wydłużyliśmy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czas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zabawy)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Century Gothic"/>
              <a:cs typeface="Century Gothic"/>
            </a:endParaRPr>
          </a:p>
          <a:p>
            <a:pPr marL="269240">
              <a:lnSpc>
                <a:spcPct val="100000"/>
              </a:lnSpc>
            </a:pPr>
            <a:r>
              <a:rPr dirty="0" sz="1500" spc="105">
                <a:solidFill>
                  <a:srgbClr val="1D1D1B"/>
                </a:solidFill>
                <a:latin typeface="Century Gothic"/>
                <a:cs typeface="Century Gothic"/>
              </a:rPr>
              <a:t>Wzrost</a:t>
            </a:r>
            <a:r>
              <a:rPr dirty="0" sz="15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>
                <a:solidFill>
                  <a:srgbClr val="1D1D1B"/>
                </a:solidFill>
                <a:latin typeface="Century Gothic"/>
                <a:cs typeface="Century Gothic"/>
              </a:rPr>
              <a:t>przychodu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 b="1">
                <a:solidFill>
                  <a:srgbClr val="E94F1E"/>
                </a:solidFill>
                <a:latin typeface="Arial"/>
                <a:cs typeface="Arial"/>
              </a:rPr>
              <a:t>24%</a:t>
            </a:r>
            <a:r>
              <a:rPr dirty="0" sz="1500">
                <a:solidFill>
                  <a:srgbClr val="1D1D1B"/>
                </a:solidFill>
                <a:latin typeface="Century Gothic"/>
                <a:cs typeface="Century Gothic"/>
              </a:rPr>
              <a:t>,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 spc="-2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 spc="90">
                <a:solidFill>
                  <a:srgbClr val="1D1D1B"/>
                </a:solidFill>
                <a:latin typeface="Century Gothic"/>
                <a:cs typeface="Century Gothic"/>
              </a:rPr>
              <a:t>wzrost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 spc="95">
                <a:solidFill>
                  <a:srgbClr val="1D1D1B"/>
                </a:solidFill>
                <a:latin typeface="Century Gothic"/>
                <a:cs typeface="Century Gothic"/>
              </a:rPr>
              <a:t>zysku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5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500" spc="45" b="1">
                <a:solidFill>
                  <a:srgbClr val="E94F1E"/>
                </a:solidFill>
                <a:latin typeface="Arial"/>
                <a:cs typeface="Arial"/>
              </a:rPr>
              <a:t>96,5%!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1363" y="6957364"/>
            <a:ext cx="4708525" cy="209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20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20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możliwe?</a:t>
            </a:r>
            <a:endParaRPr sz="2000">
              <a:latin typeface="Century Gothic"/>
              <a:cs typeface="Century Gothic"/>
            </a:endParaRPr>
          </a:p>
          <a:p>
            <a:pPr algn="just" marL="12700" marR="97155">
              <a:lnSpc>
                <a:spcPct val="100000"/>
              </a:lnSpc>
              <a:spcBef>
                <a:spcPts val="1420"/>
              </a:spcBef>
            </a:pP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Produkt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podstawowy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jest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dość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drogi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marża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nim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jest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ograniczona.</a:t>
            </a:r>
            <a:endParaRPr sz="1300">
              <a:latin typeface="Century Gothic"/>
              <a:cs typeface="Century Gothic"/>
            </a:endParaRPr>
          </a:p>
          <a:p>
            <a:pPr algn="just"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Natomiast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dodatek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bardzo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tani,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65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dużą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wartość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dla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klienta,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45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my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kupujemy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go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dosłownie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kilka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złotych,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45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sprzedajemy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kilkadziesiąt.</a:t>
            </a:r>
            <a:endParaRPr sz="1300">
              <a:latin typeface="Century Gothic"/>
              <a:cs typeface="Century Gothic"/>
            </a:endParaRPr>
          </a:p>
          <a:p>
            <a:pPr algn="just" marL="1270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różnica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nasz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czysty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zysk!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/>
          <p:nvPr/>
        </p:nvSpPr>
        <p:spPr>
          <a:xfrm>
            <a:off x="3406025" y="1711194"/>
            <a:ext cx="748030" cy="942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140">
                <a:solidFill>
                  <a:srgbClr val="FFFFFF"/>
                </a:solidFill>
                <a:latin typeface="Arial Black"/>
                <a:cs typeface="Arial Black"/>
              </a:rPr>
              <a:t>6.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55721" y="3547636"/>
            <a:ext cx="4049395" cy="1266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93750">
              <a:lnSpc>
                <a:spcPct val="127200"/>
              </a:lnSpc>
              <a:spcBef>
                <a:spcPts val="95"/>
              </a:spcBef>
            </a:pPr>
            <a:r>
              <a:rPr dirty="0" sz="3200" spc="-190">
                <a:solidFill>
                  <a:srgbClr val="FFFFFF"/>
                </a:solidFill>
                <a:latin typeface="Arial Black"/>
                <a:cs typeface="Arial Black"/>
              </a:rPr>
              <a:t>Pracują</a:t>
            </a:r>
            <a:r>
              <a:rPr dirty="0" sz="3200" spc="-1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25">
                <a:solidFill>
                  <a:srgbClr val="FFFFFF"/>
                </a:solidFill>
                <a:latin typeface="Arial Black"/>
                <a:cs typeface="Arial Black"/>
              </a:rPr>
              <a:t>nad </a:t>
            </a:r>
            <a:r>
              <a:rPr dirty="0" sz="3200" spc="-125">
                <a:solidFill>
                  <a:srgbClr val="FFFFFF"/>
                </a:solidFill>
                <a:latin typeface="Arial Black"/>
                <a:cs typeface="Arial Black"/>
              </a:rPr>
              <a:t>opisami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95">
                <a:solidFill>
                  <a:srgbClr val="FFFFFF"/>
                </a:solidFill>
                <a:latin typeface="Arial Black"/>
                <a:cs typeface="Arial Black"/>
              </a:rPr>
              <a:t>produktów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363" y="1214310"/>
            <a:ext cx="4998085" cy="706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1442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początek</a:t>
            </a: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65">
                <a:solidFill>
                  <a:srgbClr val="1D1D1B"/>
                </a:solidFill>
                <a:latin typeface="Century Gothic"/>
                <a:cs typeface="Century Gothic"/>
              </a:rPr>
              <a:t>opisy</a:t>
            </a: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produktów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przygotowane</a:t>
            </a:r>
            <a:r>
              <a:rPr dirty="0" sz="2000" spc="90">
                <a:solidFill>
                  <a:srgbClr val="1D1D1B"/>
                </a:solidFill>
                <a:latin typeface="Century Gothic"/>
                <a:cs typeface="Century Gothic"/>
              </a:rPr>
              <a:t> przez </a:t>
            </a:r>
            <a:r>
              <a:rPr dirty="0" sz="2000" spc="-30">
                <a:solidFill>
                  <a:srgbClr val="1D1D1B"/>
                </a:solidFill>
                <a:latin typeface="Century Gothic"/>
                <a:cs typeface="Century Gothic"/>
              </a:rPr>
              <a:t>dostawcę </a:t>
            </a:r>
            <a:r>
              <a:rPr dirty="0" sz="2000" spc="45">
                <a:solidFill>
                  <a:srgbClr val="1D1D1B"/>
                </a:solidFill>
                <a:latin typeface="Century Gothic"/>
                <a:cs typeface="Century Gothic"/>
              </a:rPr>
              <a:t>(hurtownię)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porządku.</a:t>
            </a:r>
            <a:endParaRPr sz="2000">
              <a:latin typeface="Century Gothic"/>
              <a:cs typeface="Century Gothic"/>
            </a:endParaRPr>
          </a:p>
          <a:p>
            <a:pPr marL="12700" marR="599440">
              <a:lnSpc>
                <a:spcPct val="100000"/>
              </a:lnSpc>
              <a:spcBef>
                <a:spcPts val="142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Jednak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kiedy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chcesz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wejść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wyższy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poziom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warto </a:t>
            </a:r>
            <a:r>
              <a:rPr dirty="0" sz="1300" spc="-45">
                <a:solidFill>
                  <a:srgbClr val="1D1D1B"/>
                </a:solidFill>
                <a:latin typeface="Century Gothic"/>
                <a:cs typeface="Century Gothic"/>
              </a:rPr>
              <a:t>popracować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nad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nimi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uszczegółowić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oraz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uczynić wyjątkowymi.</a:t>
            </a:r>
            <a:endParaRPr sz="1300">
              <a:latin typeface="Century Gothic"/>
              <a:cs typeface="Century Gothic"/>
            </a:endParaRPr>
          </a:p>
          <a:p>
            <a:pPr marL="12700" marR="18415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Naturalnie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zrobisz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dla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wszystkich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kilku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tysięcy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produktów,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powinieneś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mieć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swojej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ofercie.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Zacznij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kilku,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tych,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cieszą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większym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zainteresowanie</a:t>
            </a:r>
            <a:endParaRPr sz="1300">
              <a:latin typeface="Century Gothic"/>
              <a:cs typeface="Century Gothic"/>
            </a:endParaRPr>
          </a:p>
          <a:p>
            <a:pPr marL="12700" marR="13081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Koniecznie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postaraj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opisie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aukcji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zawrzeć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odpowiedzi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najczęściej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5">
                <a:solidFill>
                  <a:srgbClr val="1D1D1B"/>
                </a:solidFill>
                <a:latin typeface="Century Gothic"/>
                <a:cs typeface="Century Gothic"/>
              </a:rPr>
              <a:t>zadawane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pytania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klientów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pozwoli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zaoszczędzić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ogromną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ilość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czasu.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Przykład: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uchwyt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telewizora: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niemal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pytał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to,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czy</a:t>
            </a:r>
            <a:endParaRPr sz="1300">
              <a:latin typeface="Century Gothic"/>
              <a:cs typeface="Century Gothic"/>
            </a:endParaRPr>
          </a:p>
          <a:p>
            <a:pPr marL="12700" marR="2794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uchwyt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będzie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pasował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jego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odbiornika.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Wystarczyło napisać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WIELKIMI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literami,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rozstaw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śrub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montażowych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pasuje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 niemal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każdego modelu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5">
                <a:solidFill>
                  <a:srgbClr val="1D1D1B"/>
                </a:solidFill>
                <a:latin typeface="Century Gothic"/>
                <a:cs typeface="Century Gothic"/>
              </a:rPr>
              <a:t>TV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rynku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99,9%.</a:t>
            </a:r>
            <a:endParaRPr sz="1300">
              <a:latin typeface="Century Gothic"/>
              <a:cs typeface="Century Gothic"/>
            </a:endParaRPr>
          </a:p>
          <a:p>
            <a:pPr marL="12700" marR="405765">
              <a:lnSpc>
                <a:spcPct val="100000"/>
              </a:lnSpc>
              <a:spcBef>
                <a:spcPts val="1560"/>
              </a:spcBef>
            </a:pP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Pisz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opisy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gdybyś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mówił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drugiej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osoby,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nie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naśladuj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styl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instrukcji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obsługi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tłumaczonej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chińskiego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polski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przez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kogoś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kto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uczył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języka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kursie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korespondencyjnym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wolne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weekendy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:)</a:t>
            </a:r>
            <a:endParaRPr sz="1300">
              <a:latin typeface="Century Gothic"/>
              <a:cs typeface="Century Gothic"/>
            </a:endParaRPr>
          </a:p>
          <a:p>
            <a:pPr marL="12700" marR="121920">
              <a:lnSpc>
                <a:spcPct val="100000"/>
              </a:lnSpc>
              <a:spcBef>
                <a:spcPts val="156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chcesz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być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zrozumiały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wyobraź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sobie,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mówisz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drugoklasisty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(w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żadnym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razie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chodzi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tutaj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brak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szacunku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odbiorcy).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Ludzie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są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zajęci,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rozproszeni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mają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swoje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życie.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Ich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45">
                <a:solidFill>
                  <a:srgbClr val="1D1D1B"/>
                </a:solidFill>
                <a:latin typeface="Century Gothic"/>
                <a:cs typeface="Century Gothic"/>
              </a:rPr>
              <a:t>uwaga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jest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5">
                <a:solidFill>
                  <a:srgbClr val="1D1D1B"/>
                </a:solidFill>
                <a:latin typeface="Century Gothic"/>
                <a:cs typeface="Century Gothic"/>
              </a:rPr>
              <a:t>cenna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rzucą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okiem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3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sekundy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opis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ich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interesuje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napisanego 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WYRAŹNIE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jednoznacznie…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tracisz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ich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uwagę.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64769">
              <a:lnSpc>
                <a:spcPct val="100000"/>
              </a:lnSpc>
              <a:spcBef>
                <a:spcPts val="115"/>
              </a:spcBef>
            </a:pPr>
            <a:r>
              <a:rPr dirty="0" sz="6000" spc="-930"/>
              <a:t>7.</a:t>
            </a:r>
            <a:endParaRPr sz="6000"/>
          </a:p>
        </p:txBody>
      </p:sp>
      <p:sp>
        <p:nvSpPr>
          <p:cNvPr id="2" name="object 2"/>
          <p:cNvSpPr txBox="1"/>
          <p:nvPr/>
        </p:nvSpPr>
        <p:spPr>
          <a:xfrm>
            <a:off x="1688782" y="3547624"/>
            <a:ext cx="4182745" cy="1266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2885" marR="5080" indent="-210820">
              <a:lnSpc>
                <a:spcPct val="127200"/>
              </a:lnSpc>
              <a:spcBef>
                <a:spcPts val="95"/>
              </a:spcBef>
            </a:pPr>
            <a:r>
              <a:rPr dirty="0" sz="3200" spc="-75">
                <a:solidFill>
                  <a:srgbClr val="FFFFFF"/>
                </a:solidFill>
                <a:latin typeface="Arial Black"/>
                <a:cs typeface="Arial Black"/>
              </a:rPr>
              <a:t>Wybierają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45">
                <a:solidFill>
                  <a:srgbClr val="FFFFFF"/>
                </a:solidFill>
                <a:latin typeface="Arial Black"/>
                <a:cs typeface="Arial Black"/>
              </a:rPr>
              <a:t>produkty </a:t>
            </a:r>
            <a:r>
              <a:rPr dirty="0" sz="3200" spc="-75">
                <a:solidFill>
                  <a:srgbClr val="FFFFFF"/>
                </a:solidFill>
                <a:latin typeface="Arial Black"/>
                <a:cs typeface="Arial Black"/>
              </a:rPr>
              <a:t>“nisko-</a:t>
            </a:r>
            <a:r>
              <a:rPr dirty="0" sz="3200" spc="-10">
                <a:solidFill>
                  <a:srgbClr val="FFFFFF"/>
                </a:solidFill>
                <a:latin typeface="Arial Black"/>
                <a:cs typeface="Arial Black"/>
              </a:rPr>
              <a:t>zwrotowe”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55912" y="10228987"/>
            <a:ext cx="2250440" cy="2311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FFFFFF"/>
                </a:solidFill>
                <a:latin typeface="Century Gothic"/>
                <a:cs typeface="Century Gothic"/>
              </a:rPr>
              <a:t>SekretyHandlu.pl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160">
                <a:solidFill>
                  <a:srgbClr val="FFFFFF"/>
                </a:solidFill>
                <a:latin typeface="Century Gothic"/>
                <a:cs typeface="Century Gothic"/>
              </a:rPr>
              <a:t>@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entury Gothic"/>
                <a:cs typeface="Century Gothic"/>
              </a:rPr>
              <a:t>2019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1363" y="1214310"/>
            <a:ext cx="4982210" cy="706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6845">
              <a:lnSpc>
                <a:spcPct val="100000"/>
              </a:lnSpc>
              <a:spcBef>
                <a:spcPts val="100"/>
              </a:spcBef>
            </a:pPr>
            <a:r>
              <a:rPr dirty="0" sz="2000" spc="50">
                <a:solidFill>
                  <a:srgbClr val="1D1D1B"/>
                </a:solidFill>
                <a:latin typeface="Century Gothic"/>
                <a:cs typeface="Century Gothic"/>
              </a:rPr>
              <a:t>Wiele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osób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działając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20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dropshippingu </a:t>
            </a:r>
            <a:r>
              <a:rPr dirty="0" sz="2000" spc="-35">
                <a:solidFill>
                  <a:srgbClr val="1D1D1B"/>
                </a:solidFill>
                <a:latin typeface="Century Gothic"/>
                <a:cs typeface="Century Gothic"/>
              </a:rPr>
              <a:t>obawia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zwrotów.</a:t>
            </a:r>
            <a:endParaRPr sz="2000">
              <a:latin typeface="Century Gothic"/>
              <a:cs typeface="Century Gothic"/>
            </a:endParaRPr>
          </a:p>
          <a:p>
            <a:pPr marL="12700" marR="521334">
              <a:lnSpc>
                <a:spcPct val="100000"/>
              </a:lnSpc>
              <a:spcBef>
                <a:spcPts val="142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czego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40">
                <a:solidFill>
                  <a:srgbClr val="1D1D1B"/>
                </a:solidFill>
                <a:latin typeface="Century Gothic"/>
                <a:cs typeface="Century Gothic"/>
              </a:rPr>
              <a:t>obawiać.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Ważne,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dobrze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wybrać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branżę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produkt.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Koniecznie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wybierz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produkty,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generują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minimalną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ilość zwrotów.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Dla</a:t>
            </a:r>
            <a:r>
              <a:rPr dirty="0" sz="1300" spc="16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porównania: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300">
              <a:latin typeface="Arial"/>
              <a:cs typeface="Arial"/>
            </a:endParaRPr>
          </a:p>
          <a:p>
            <a:pPr marL="241300" marR="14478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odzież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obuwie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zwroty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poziomie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30%,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okresie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świątecznym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nawet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50%</a:t>
            </a:r>
            <a:endParaRPr sz="1300">
              <a:latin typeface="Century Gothic"/>
              <a:cs typeface="Century Gothic"/>
            </a:endParaRPr>
          </a:p>
          <a:p>
            <a:pPr marL="241300" marR="120713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grille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zwroty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przekraczają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poziomu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65">
                <a:solidFill>
                  <a:srgbClr val="1D1D1B"/>
                </a:solidFill>
                <a:latin typeface="Century Gothic"/>
                <a:cs typeface="Century Gothic"/>
              </a:rPr>
              <a:t>1%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wentylatory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latem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zwroty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poniżej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1%</a:t>
            </a:r>
            <a:endParaRPr sz="1300">
              <a:latin typeface="Century Gothic"/>
              <a:cs typeface="Century Gothic"/>
            </a:endParaRPr>
          </a:p>
          <a:p>
            <a:pPr marL="241300" marR="2362835">
              <a:lnSpc>
                <a:spcPct val="2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zabawki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średnio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poniżej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3%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już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pluszaki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poniżej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1%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Dlaczego</a:t>
            </a:r>
            <a:r>
              <a:rPr dirty="0" sz="20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tak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20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dzieje?</a:t>
            </a:r>
            <a:endParaRPr sz="2000">
              <a:latin typeface="Century Gothic"/>
              <a:cs typeface="Century Gothic"/>
            </a:endParaRPr>
          </a:p>
          <a:p>
            <a:pPr marL="12700" marR="342265">
              <a:lnSpc>
                <a:spcPct val="100000"/>
              </a:lnSpc>
              <a:spcBef>
                <a:spcPts val="142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Ubranie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ładnie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wygląda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zdjęciu,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modelce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lub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manekinie,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 inaczej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wyglądać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nas.</a:t>
            </a:r>
            <a:endParaRPr sz="1300">
              <a:latin typeface="Century Gothic"/>
              <a:cs typeface="Century Gothic"/>
            </a:endParaRPr>
          </a:p>
          <a:p>
            <a:pPr marL="12700" marR="427990">
              <a:lnSpc>
                <a:spcPct val="100000"/>
              </a:lnSpc>
            </a:pP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Buty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mimo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właściwego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rozmiaru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mogą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być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duże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lub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nieco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małe.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Grill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grill…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nim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zepsuć.</a:t>
            </a:r>
            <a:endParaRPr sz="1300">
              <a:latin typeface="Century Gothic"/>
              <a:cs typeface="Century Gothic"/>
            </a:endParaRPr>
          </a:p>
          <a:p>
            <a:pPr marL="12700" marR="334010">
              <a:lnSpc>
                <a:spcPct val="10000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Wentylator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upalnie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wystarczy,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działa…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Daj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dziecku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zabawkę,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potem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spróbuj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ją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70">
                <a:solidFill>
                  <a:srgbClr val="1D1D1B"/>
                </a:solidFill>
                <a:latin typeface="Century Gothic"/>
                <a:cs typeface="Century Gothic"/>
              </a:rPr>
              <a:t>zabrać…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marne szanse.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mieć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świadomość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wykorzystać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fakt.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6776" y="3617099"/>
            <a:ext cx="51435" cy="1795780"/>
          </a:xfrm>
          <a:custGeom>
            <a:avLst/>
            <a:gdLst/>
            <a:ahLst/>
            <a:cxnLst/>
            <a:rect l="l" t="t" r="r" b="b"/>
            <a:pathLst>
              <a:path w="51434" h="1795779">
                <a:moveTo>
                  <a:pt x="51003" y="0"/>
                </a:moveTo>
                <a:lnTo>
                  <a:pt x="0" y="0"/>
                </a:lnTo>
                <a:lnTo>
                  <a:pt x="0" y="1795398"/>
                </a:lnTo>
                <a:lnTo>
                  <a:pt x="51003" y="1795398"/>
                </a:lnTo>
                <a:lnTo>
                  <a:pt x="51003" y="0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object 2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18243" y="1711206"/>
            <a:ext cx="723900" cy="94234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295"/>
              <a:t>8.</a:t>
            </a:r>
            <a:endParaRPr sz="6000"/>
          </a:p>
        </p:txBody>
      </p:sp>
      <p:sp>
        <p:nvSpPr>
          <p:cNvPr id="2" name="object 2"/>
          <p:cNvSpPr txBox="1"/>
          <p:nvPr/>
        </p:nvSpPr>
        <p:spPr>
          <a:xfrm>
            <a:off x="1176647" y="3547636"/>
            <a:ext cx="5207000" cy="1266825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dirty="0" sz="3200" spc="-10">
                <a:solidFill>
                  <a:srgbClr val="FFFFFF"/>
                </a:solidFill>
                <a:latin typeface="Arial Black"/>
                <a:cs typeface="Arial Black"/>
              </a:rPr>
              <a:t>Wydłużają</a:t>
            </a:r>
            <a:r>
              <a:rPr dirty="0" sz="3200" spc="-200">
                <a:solidFill>
                  <a:srgbClr val="FFFFFF"/>
                </a:solidFill>
                <a:latin typeface="Arial Black"/>
                <a:cs typeface="Arial Black"/>
              </a:rPr>
              <a:t> czas</a:t>
            </a:r>
            <a:r>
              <a:rPr dirty="0" sz="3200" spc="-180">
                <a:solidFill>
                  <a:srgbClr val="FFFFFF"/>
                </a:solidFill>
                <a:latin typeface="Arial Black"/>
                <a:cs typeface="Arial Black"/>
              </a:rPr>
              <a:t> na </a:t>
            </a:r>
            <a:r>
              <a:rPr dirty="0" sz="3200" spc="-25">
                <a:solidFill>
                  <a:srgbClr val="FFFFFF"/>
                </a:solidFill>
                <a:latin typeface="Arial Black"/>
                <a:cs typeface="Arial Black"/>
              </a:rPr>
              <a:t>zwrot</a:t>
            </a:r>
            <a:endParaRPr sz="32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dirty="0" sz="3200" spc="240">
                <a:solidFill>
                  <a:srgbClr val="FFFFFF"/>
                </a:solidFill>
                <a:latin typeface="Arial Black"/>
                <a:cs typeface="Arial Black"/>
              </a:rPr>
              <a:t>-</a:t>
            </a:r>
            <a:r>
              <a:rPr dirty="0" sz="3200" spc="-1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60">
                <a:solidFill>
                  <a:srgbClr val="FFFFFF"/>
                </a:solidFill>
                <a:latin typeface="Arial Black"/>
                <a:cs typeface="Arial Black"/>
              </a:rPr>
              <a:t>eksperymentują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55912" y="10228999"/>
            <a:ext cx="2250440" cy="2311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FFFFFF"/>
                </a:solidFill>
                <a:latin typeface="Century Gothic"/>
                <a:cs typeface="Century Gothic"/>
              </a:rPr>
              <a:t>SekretyHandlu.pl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160">
                <a:solidFill>
                  <a:srgbClr val="FFFFFF"/>
                </a:solidFill>
                <a:latin typeface="Century Gothic"/>
                <a:cs typeface="Century Gothic"/>
              </a:rPr>
              <a:t>@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entury Gothic"/>
                <a:cs typeface="Century Gothic"/>
              </a:rPr>
              <a:t>2019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61363" y="1214310"/>
            <a:ext cx="4983480" cy="4594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38760">
              <a:lnSpc>
                <a:spcPct val="100000"/>
              </a:lnSpc>
              <a:spcBef>
                <a:spcPts val="100"/>
              </a:spcBef>
            </a:pPr>
            <a:r>
              <a:rPr dirty="0" sz="2000" spc="-30">
                <a:solidFill>
                  <a:srgbClr val="1D1D1B"/>
                </a:solidFill>
                <a:latin typeface="Century Gothic"/>
                <a:cs typeface="Century Gothic"/>
              </a:rPr>
              <a:t>Generalnie</a:t>
            </a:r>
            <a:r>
              <a:rPr dirty="0" sz="20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114">
                <a:solidFill>
                  <a:srgbClr val="1D1D1B"/>
                </a:solidFill>
                <a:latin typeface="Century Gothic"/>
                <a:cs typeface="Century Gothic"/>
              </a:rPr>
              <a:t>dłuższy</a:t>
            </a:r>
            <a:r>
              <a:rPr dirty="0" sz="20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czas</a:t>
            </a:r>
            <a:r>
              <a:rPr dirty="0" sz="20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3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20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114">
                <a:solidFill>
                  <a:srgbClr val="1D1D1B"/>
                </a:solidFill>
                <a:latin typeface="Century Gothic"/>
                <a:cs typeface="Century Gothic"/>
              </a:rPr>
              <a:t>zwrot</a:t>
            </a:r>
            <a:r>
              <a:rPr dirty="0" sz="20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to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bardzo</a:t>
            </a:r>
            <a:r>
              <a:rPr dirty="0" sz="20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80">
                <a:solidFill>
                  <a:srgbClr val="1D1D1B"/>
                </a:solidFill>
                <a:latin typeface="Century Gothic"/>
                <a:cs typeface="Century Gothic"/>
              </a:rPr>
              <a:t>prosty</a:t>
            </a:r>
            <a:r>
              <a:rPr dirty="0" sz="20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sposób</a:t>
            </a:r>
            <a:r>
              <a:rPr dirty="0" sz="20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3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20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55">
                <a:solidFill>
                  <a:srgbClr val="1D1D1B"/>
                </a:solidFill>
                <a:latin typeface="Century Gothic"/>
                <a:cs typeface="Century Gothic"/>
              </a:rPr>
              <a:t>zwiększenie 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komfortu</a:t>
            </a:r>
            <a:r>
              <a:rPr dirty="0" sz="20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klienta</a:t>
            </a:r>
            <a:r>
              <a:rPr dirty="0" sz="20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obniżający</a:t>
            </a:r>
            <a:r>
              <a:rPr dirty="0" sz="20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jego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poczucie</a:t>
            </a:r>
            <a:r>
              <a:rPr dirty="0" sz="2000" spc="-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niepewności.</a:t>
            </a:r>
            <a:endParaRPr sz="2000">
              <a:latin typeface="Century Gothic"/>
              <a:cs typeface="Century Gothic"/>
            </a:endParaRPr>
          </a:p>
          <a:p>
            <a:pPr marL="12700" marR="60325">
              <a:lnSpc>
                <a:spcPct val="100000"/>
              </a:lnSpc>
              <a:spcBef>
                <a:spcPts val="142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masz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produkt,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który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rzadko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zwracany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naprawdę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nic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ryzykujesz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oferując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klientowi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dłuższy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czas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zwrot.</a:t>
            </a:r>
            <a:endParaRPr sz="1300">
              <a:latin typeface="Century Gothic"/>
              <a:cs typeface="Century Gothic"/>
            </a:endParaRPr>
          </a:p>
          <a:p>
            <a:pPr marL="12700" marR="59880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Ponadto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40">
                <a:solidFill>
                  <a:srgbClr val="1D1D1B"/>
                </a:solidFill>
                <a:latin typeface="Century Gothic"/>
                <a:cs typeface="Century Gothic"/>
              </a:rPr>
              <a:t>pamiętać,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zwrotu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można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dokonać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zasadniczo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sytuacji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gdy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BYŁ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używany.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użyty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możesz </a:t>
            </a:r>
            <a:r>
              <a:rPr dirty="0" sz="1300" spc="-55">
                <a:solidFill>
                  <a:srgbClr val="1D1D1B"/>
                </a:solidFill>
                <a:latin typeface="Century Gothic"/>
                <a:cs typeface="Century Gothic"/>
              </a:rPr>
              <a:t>oddać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część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kwoty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pomniejszoną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wartość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zużycia*.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Nasz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przykładowy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grill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jednym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rozpaleniu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40">
                <a:solidFill>
                  <a:srgbClr val="1D1D1B"/>
                </a:solidFill>
                <a:latin typeface="Century Gothic"/>
                <a:cs typeface="Century Gothic"/>
              </a:rPr>
              <a:t>nadaje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się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zwrotu.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tego,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damy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tam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nawet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365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dni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zwrot.</a:t>
            </a:r>
            <a:endParaRPr sz="1300">
              <a:latin typeface="Century Gothic"/>
              <a:cs typeface="Century Gothic"/>
            </a:endParaRPr>
          </a:p>
          <a:p>
            <a:pPr marL="12700" marR="13779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*Szczegóły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przegadaj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prawnikiem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lub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sprawdź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artykuł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na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stronie.</a:t>
            </a:r>
            <a:endParaRPr sz="1300">
              <a:latin typeface="Century Gothic"/>
              <a:cs typeface="Century Gothic"/>
            </a:endParaRPr>
          </a:p>
          <a:p>
            <a:pPr marL="12700" marR="45910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Skuteczni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sprzedawcy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ograniczają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wyłącznie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do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jednego</a:t>
            </a:r>
            <a:r>
              <a:rPr dirty="0" sz="1300" spc="-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kanału</a:t>
            </a:r>
            <a:r>
              <a:rPr dirty="0" sz="1300" spc="-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sprzedaży.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2198255" y="6562382"/>
            <a:ext cx="3163570" cy="569595"/>
          </a:xfrm>
          <a:custGeom>
            <a:avLst/>
            <a:gdLst/>
            <a:ahLst/>
            <a:cxnLst/>
            <a:rect l="l" t="t" r="r" b="b"/>
            <a:pathLst>
              <a:path w="3163570" h="569595">
                <a:moveTo>
                  <a:pt x="2990799" y="0"/>
                </a:moveTo>
                <a:lnTo>
                  <a:pt x="172745" y="0"/>
                </a:lnTo>
                <a:lnTo>
                  <a:pt x="126823" y="6170"/>
                </a:lnTo>
                <a:lnTo>
                  <a:pt x="85558" y="23585"/>
                </a:lnTo>
                <a:lnTo>
                  <a:pt x="50596" y="50596"/>
                </a:lnTo>
                <a:lnTo>
                  <a:pt x="23585" y="85558"/>
                </a:lnTo>
                <a:lnTo>
                  <a:pt x="6170" y="126823"/>
                </a:lnTo>
                <a:lnTo>
                  <a:pt x="0" y="172745"/>
                </a:lnTo>
                <a:lnTo>
                  <a:pt x="0" y="396278"/>
                </a:lnTo>
                <a:lnTo>
                  <a:pt x="6170" y="442199"/>
                </a:lnTo>
                <a:lnTo>
                  <a:pt x="23585" y="483465"/>
                </a:lnTo>
                <a:lnTo>
                  <a:pt x="50596" y="518426"/>
                </a:lnTo>
                <a:lnTo>
                  <a:pt x="85558" y="545438"/>
                </a:lnTo>
                <a:lnTo>
                  <a:pt x="126823" y="562852"/>
                </a:lnTo>
                <a:lnTo>
                  <a:pt x="172745" y="569023"/>
                </a:lnTo>
                <a:lnTo>
                  <a:pt x="2990799" y="569023"/>
                </a:lnTo>
                <a:lnTo>
                  <a:pt x="3036720" y="562852"/>
                </a:lnTo>
                <a:lnTo>
                  <a:pt x="3077986" y="545438"/>
                </a:lnTo>
                <a:lnTo>
                  <a:pt x="3112947" y="518426"/>
                </a:lnTo>
                <a:lnTo>
                  <a:pt x="3139959" y="483465"/>
                </a:lnTo>
                <a:lnTo>
                  <a:pt x="3157373" y="442199"/>
                </a:lnTo>
                <a:lnTo>
                  <a:pt x="3163544" y="396278"/>
                </a:lnTo>
                <a:lnTo>
                  <a:pt x="3163544" y="172745"/>
                </a:lnTo>
                <a:lnTo>
                  <a:pt x="3157373" y="126823"/>
                </a:lnTo>
                <a:lnTo>
                  <a:pt x="3139959" y="85558"/>
                </a:lnTo>
                <a:lnTo>
                  <a:pt x="3112947" y="50596"/>
                </a:lnTo>
                <a:lnTo>
                  <a:pt x="3077986" y="23585"/>
                </a:lnTo>
                <a:lnTo>
                  <a:pt x="3036720" y="6170"/>
                </a:lnTo>
                <a:lnTo>
                  <a:pt x="2990799" y="0"/>
                </a:lnTo>
                <a:close/>
              </a:path>
            </a:pathLst>
          </a:custGeom>
          <a:solidFill>
            <a:srgbClr val="E94F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15311" y="6674929"/>
            <a:ext cx="27298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55" b="1">
                <a:solidFill>
                  <a:srgbClr val="FFFFFF"/>
                </a:solidFill>
                <a:latin typeface="Arial"/>
                <a:cs typeface="Arial"/>
              </a:rPr>
              <a:t>365</a:t>
            </a:r>
            <a:r>
              <a:rPr dirty="0" sz="20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114" b="1">
                <a:solidFill>
                  <a:srgbClr val="FFFFFF"/>
                </a:solidFill>
                <a:latin typeface="Arial"/>
                <a:cs typeface="Arial"/>
              </a:rPr>
              <a:t>DNI</a:t>
            </a:r>
            <a:r>
              <a:rPr dirty="0" sz="20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114" b="1">
                <a:solidFill>
                  <a:srgbClr val="FFFFFF"/>
                </a:solidFill>
                <a:latin typeface="Arial"/>
                <a:cs typeface="Arial"/>
              </a:rPr>
              <a:t>NA</a:t>
            </a:r>
            <a:r>
              <a:rPr dirty="0" sz="2000" spc="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95" b="1">
                <a:solidFill>
                  <a:srgbClr val="FFFFFF"/>
                </a:solidFill>
                <a:latin typeface="Arial"/>
                <a:cs typeface="Arial"/>
              </a:rPr>
              <a:t>ZWROT!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190"/>
              <a:t>9.</a:t>
            </a:r>
            <a:endParaRPr sz="6000"/>
          </a:p>
        </p:txBody>
      </p:sp>
      <p:sp>
        <p:nvSpPr>
          <p:cNvPr id="2" name="object 2"/>
          <p:cNvSpPr txBox="1"/>
          <p:nvPr/>
        </p:nvSpPr>
        <p:spPr>
          <a:xfrm>
            <a:off x="562049" y="3678274"/>
            <a:ext cx="6436360" cy="5156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200" spc="-80">
                <a:solidFill>
                  <a:srgbClr val="FFFFFF"/>
                </a:solidFill>
                <a:latin typeface="Arial Black"/>
                <a:cs typeface="Arial Black"/>
              </a:rPr>
              <a:t>Wykorzystują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60">
                <a:solidFill>
                  <a:srgbClr val="FFFFFF"/>
                </a:solidFill>
                <a:latin typeface="Arial Black"/>
                <a:cs typeface="Arial Black"/>
              </a:rPr>
              <a:t>cykliczne</a:t>
            </a:r>
            <a:r>
              <a:rPr dirty="0" sz="3200" spc="-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Arial Black"/>
                <a:cs typeface="Arial Black"/>
              </a:rPr>
              <a:t>trendy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363" y="1214310"/>
            <a:ext cx="496252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20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80">
                <a:solidFill>
                  <a:srgbClr val="1D1D1B"/>
                </a:solidFill>
                <a:latin typeface="Century Gothic"/>
                <a:cs typeface="Century Gothic"/>
              </a:rPr>
              <a:t>przywiązuj</a:t>
            </a:r>
            <a:r>
              <a:rPr dirty="0" sz="20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20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20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jednej</a:t>
            </a:r>
            <a:r>
              <a:rPr dirty="0" sz="20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branży,</a:t>
            </a:r>
            <a:r>
              <a:rPr dirty="0" sz="20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5">
                <a:solidFill>
                  <a:srgbClr val="1D1D1B"/>
                </a:solidFill>
                <a:latin typeface="Century Gothic"/>
                <a:cs typeface="Century Gothic"/>
              </a:rPr>
              <a:t>ani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20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jednej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grupy</a:t>
            </a:r>
            <a:r>
              <a:rPr dirty="0" sz="20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produktów.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1287" y="2110930"/>
            <a:ext cx="4953000" cy="548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Wykorzystaj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naturalny,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powtarzalny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cykl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trendów.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roku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ludzie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kupują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mniej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więcej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samo.</a:t>
            </a:r>
            <a:endParaRPr sz="1300">
              <a:latin typeface="Century Gothic"/>
              <a:cs typeface="Century Gothic"/>
            </a:endParaRPr>
          </a:p>
          <a:p>
            <a:pPr marL="12700" marR="493395">
              <a:lnSpc>
                <a:spcPct val="100000"/>
              </a:lnSpc>
              <a:spcBef>
                <a:spcPts val="1560"/>
              </a:spcBef>
            </a:pPr>
            <a:r>
              <a:rPr dirty="0" sz="1300" spc="185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styczniu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idzie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dużo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rowerków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orbitreków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-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generalnie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fitness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rządzi.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Trzeba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odchudzić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po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świątecznym</a:t>
            </a:r>
            <a:r>
              <a:rPr dirty="0" sz="1300" spc="2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szaleństwie.</a:t>
            </a:r>
            <a:endParaRPr sz="1300">
              <a:latin typeface="Century Gothic"/>
              <a:cs typeface="Century Gothic"/>
            </a:endParaRPr>
          </a:p>
          <a:p>
            <a:pPr marL="12700" marR="81534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Wiosną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ludzie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kupują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sprzęt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ogrodowy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huśtawki,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trampoliny,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grille</a:t>
            </a:r>
            <a:r>
              <a:rPr dirty="0" sz="1300" spc="1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itp.</a:t>
            </a:r>
            <a:endParaRPr sz="1300">
              <a:latin typeface="Century Gothic"/>
              <a:cs typeface="Century Gothic"/>
            </a:endParaRPr>
          </a:p>
          <a:p>
            <a:pPr marL="12700" marR="30353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Latem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być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pewny,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sprzęt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turystyczny,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baseny, wentylatory.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dzień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dziecka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święta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królują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zabawki.</a:t>
            </a:r>
            <a:endParaRPr sz="1300">
              <a:latin typeface="Century Gothic"/>
              <a:cs typeface="Century Gothic"/>
            </a:endParaRPr>
          </a:p>
          <a:p>
            <a:pPr marL="12700" marR="19050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Ludzka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natura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sama.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Wystarczy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trochę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pogłówkować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szukać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swoich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sposóbów,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zebrać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swój kawałek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potężnego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prawie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15</a:t>
            </a:r>
            <a:r>
              <a:rPr dirty="0" sz="1300" spc="9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miliardowego</a:t>
            </a:r>
            <a:r>
              <a:rPr dirty="0" sz="1300" spc="9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rynku</a:t>
            </a:r>
            <a:r>
              <a:rPr dirty="0" sz="1300" spc="9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1D1D1B"/>
                </a:solidFill>
                <a:latin typeface="Arial"/>
                <a:cs typeface="Arial"/>
              </a:rPr>
              <a:t>na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samym</a:t>
            </a:r>
            <a:r>
              <a:rPr dirty="0" sz="1300" spc="185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Allegro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.</a:t>
            </a:r>
            <a:endParaRPr sz="13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ts val="2330"/>
              </a:lnSpc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walcz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trendem.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E94F1E"/>
                </a:solidFill>
                <a:latin typeface="Century Gothic"/>
                <a:cs typeface="Century Gothic"/>
              </a:rPr>
              <a:t>“Trend</a:t>
            </a:r>
            <a:r>
              <a:rPr dirty="0" sz="2000" spc="80">
                <a:solidFill>
                  <a:srgbClr val="E94F1E"/>
                </a:solidFill>
                <a:latin typeface="Century Gothic"/>
                <a:cs typeface="Century Gothic"/>
              </a:rPr>
              <a:t> </a:t>
            </a:r>
            <a:r>
              <a:rPr dirty="0" sz="2000" spc="170">
                <a:solidFill>
                  <a:srgbClr val="E94F1E"/>
                </a:solidFill>
                <a:latin typeface="Century Gothic"/>
                <a:cs typeface="Century Gothic"/>
              </a:rPr>
              <a:t>is</a:t>
            </a:r>
            <a:r>
              <a:rPr dirty="0" sz="2000" spc="75">
                <a:solidFill>
                  <a:srgbClr val="E94F1E"/>
                </a:solidFill>
                <a:latin typeface="Century Gothic"/>
                <a:cs typeface="Century Gothic"/>
              </a:rPr>
              <a:t> </a:t>
            </a:r>
            <a:r>
              <a:rPr dirty="0" sz="2000" spc="55">
                <a:solidFill>
                  <a:srgbClr val="E94F1E"/>
                </a:solidFill>
                <a:latin typeface="Century Gothic"/>
                <a:cs typeface="Century Gothic"/>
              </a:rPr>
              <a:t>your</a:t>
            </a:r>
            <a:r>
              <a:rPr dirty="0" sz="2000" spc="80">
                <a:solidFill>
                  <a:srgbClr val="E94F1E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E94F1E"/>
                </a:solidFill>
                <a:latin typeface="Century Gothic"/>
                <a:cs typeface="Century Gothic"/>
              </a:rPr>
              <a:t>friend”</a:t>
            </a:r>
            <a:endParaRPr sz="2000">
              <a:latin typeface="Century Gothic"/>
              <a:cs typeface="Century Gothic"/>
            </a:endParaRPr>
          </a:p>
          <a:p>
            <a:pPr marL="129539" indent="-116839">
              <a:lnSpc>
                <a:spcPts val="1490"/>
              </a:lnSpc>
              <a:buChar char="-"/>
              <a:tabLst>
                <a:tab pos="129539" algn="l"/>
              </a:tabLst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mawiają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nasi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sojusznicy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zza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oceanu.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sprzedawać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swoje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niszowe,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specjalne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produkty,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ale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powodu,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zarobić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trochę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grosza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sprzedając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endParaRPr sz="1300">
              <a:latin typeface="Century Gothic"/>
              <a:cs typeface="Century Gothic"/>
            </a:endParaRPr>
          </a:p>
          <a:p>
            <a:pPr marL="129539" indent="-116839">
              <a:lnSpc>
                <a:spcPct val="100000"/>
              </a:lnSpc>
              <a:buChar char="-"/>
              <a:tabLst>
                <a:tab pos="129539" algn="l"/>
              </a:tabLst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czego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ludzie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chcą!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26511" y="1711194"/>
            <a:ext cx="1094740" cy="942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585">
                <a:solidFill>
                  <a:srgbClr val="FFFFFF"/>
                </a:solidFill>
                <a:latin typeface="Arial Black"/>
                <a:cs typeface="Arial Black"/>
              </a:rPr>
              <a:t>10.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pc="-160"/>
              <a:t>Korzystają</a:t>
            </a:r>
            <a:r>
              <a:rPr dirty="0" spc="-135"/>
              <a:t> </a:t>
            </a:r>
            <a:r>
              <a:rPr dirty="0"/>
              <a:t>z</a:t>
            </a:r>
            <a:r>
              <a:rPr dirty="0" spc="-130"/>
              <a:t> </a:t>
            </a:r>
            <a:r>
              <a:rPr dirty="0" spc="-160"/>
              <a:t>wielu</a:t>
            </a:r>
            <a:r>
              <a:rPr dirty="0" spc="-130"/>
              <a:t> </a:t>
            </a:r>
            <a:r>
              <a:rPr dirty="0" spc="-65"/>
              <a:t>kont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1363" y="960145"/>
            <a:ext cx="44761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Posiadanie</a:t>
            </a:r>
            <a:r>
              <a:rPr dirty="0" sz="20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wielu</a:t>
            </a:r>
            <a:r>
              <a:rPr dirty="0" sz="20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kont</a:t>
            </a:r>
            <a:r>
              <a:rPr dirty="0" sz="20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jednocześnie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mam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wiele</a:t>
            </a:r>
            <a:r>
              <a:rPr dirty="0" sz="20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zalet.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1363" y="1856765"/>
            <a:ext cx="5019040" cy="3393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097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mamy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twardych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dowodów,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widzimy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bardzo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często,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algorytm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trafności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lepiej</a:t>
            </a:r>
            <a:r>
              <a:rPr dirty="0" sz="1300" spc="1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pozycjonuje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Twoje aukcje.</a:t>
            </a:r>
            <a:endParaRPr sz="1300">
              <a:latin typeface="Century Gothic"/>
              <a:cs typeface="Century Gothic"/>
            </a:endParaRPr>
          </a:p>
          <a:p>
            <a:pPr marL="12700" marR="55435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Minimalizuje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ryzyko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utrata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50">
                <a:solidFill>
                  <a:srgbClr val="1D1D1B"/>
                </a:solidFill>
                <a:latin typeface="Century Gothic"/>
                <a:cs typeface="Century Gothic"/>
              </a:rPr>
              <a:t>całego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biznesu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związku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kasacją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czy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chwilową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blokadą</a:t>
            </a:r>
            <a:r>
              <a:rPr dirty="0" sz="13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konta.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Pamiętaj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sprzedając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allegro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korzystasz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gościnności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tego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portalu,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który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własne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interesy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własną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60">
                <a:solidFill>
                  <a:srgbClr val="1D1D1B"/>
                </a:solidFill>
                <a:latin typeface="Century Gothic"/>
                <a:cs typeface="Century Gothic"/>
              </a:rPr>
              <a:t>agendę.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ich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firma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oni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mogą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każdym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momencie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zablokować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lub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usunąć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Twoje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konto.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Oczywiście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dzieje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zbyt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często,</a:t>
            </a:r>
            <a:endParaRPr sz="1300">
              <a:latin typeface="Century Gothic"/>
              <a:cs typeface="Century Gothic"/>
            </a:endParaRPr>
          </a:p>
          <a:p>
            <a:pPr marL="12700" marR="439420">
              <a:lnSpc>
                <a:spcPct val="100000"/>
              </a:lnSpc>
            </a:pP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zdarzyć.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Lepiej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przygotować</a:t>
            </a:r>
            <a:r>
              <a:rPr dirty="0" sz="1300" spc="1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40">
                <a:solidFill>
                  <a:srgbClr val="1D1D1B"/>
                </a:solidFill>
                <a:latin typeface="Century Gothic"/>
                <a:cs typeface="Century Gothic"/>
              </a:rPr>
              <a:t>na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najgorszy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scenariusz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robić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wszystko,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1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nie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zdarzyło.</a:t>
            </a:r>
            <a:endParaRPr sz="1300">
              <a:latin typeface="Century Gothic"/>
              <a:cs typeface="Century Gothic"/>
            </a:endParaRPr>
          </a:p>
          <a:p>
            <a:pPr marL="12700" marR="521334">
              <a:lnSpc>
                <a:spcPct val="100000"/>
              </a:lnSpc>
              <a:spcBef>
                <a:spcPts val="1560"/>
              </a:spcBef>
            </a:pP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Nikt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końca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rozumie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dowodu,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sprzedaż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rośnie,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gdy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korzystasz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wielu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kont.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366" y="5454269"/>
            <a:ext cx="5551805" cy="793115"/>
          </a:xfrm>
          <a:prstGeom prst="rect">
            <a:avLst/>
          </a:prstGeom>
          <a:ln w="13411">
            <a:solidFill>
              <a:srgbClr val="E94F1E"/>
            </a:solidFill>
          </a:ln>
        </p:spPr>
        <p:txBody>
          <a:bodyPr wrap="square" lIns="0" tIns="179070" rIns="0" bIns="0" rtlCol="0" vert="horz">
            <a:spAutoFit/>
          </a:bodyPr>
          <a:lstStyle/>
          <a:p>
            <a:pPr marL="1837689" marR="639445" indent="-1189355">
              <a:lnSpc>
                <a:spcPct val="100000"/>
              </a:lnSpc>
              <a:spcBef>
                <a:spcPts val="1410"/>
              </a:spcBef>
            </a:pPr>
            <a:r>
              <a:rPr dirty="0" sz="1300" spc="10" b="1">
                <a:solidFill>
                  <a:srgbClr val="1D1D1B"/>
                </a:solidFill>
                <a:latin typeface="Arial"/>
                <a:cs typeface="Arial"/>
              </a:rPr>
              <a:t>Działając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1D1D1B"/>
                </a:solidFill>
                <a:latin typeface="Arial"/>
                <a:cs typeface="Arial"/>
              </a:rPr>
              <a:t>na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1D1D1B"/>
                </a:solidFill>
                <a:latin typeface="Arial"/>
                <a:cs typeface="Arial"/>
              </a:rPr>
              <a:t>kilku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1D1D1B"/>
                </a:solidFill>
                <a:latin typeface="Arial"/>
                <a:cs typeface="Arial"/>
              </a:rPr>
              <a:t>kontach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65" b="1">
                <a:solidFill>
                  <a:srgbClr val="1D1D1B"/>
                </a:solidFill>
                <a:latin typeface="Arial"/>
                <a:cs typeface="Arial"/>
              </a:rPr>
              <a:t>łatwiej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10" b="1">
                <a:solidFill>
                  <a:srgbClr val="1D1D1B"/>
                </a:solidFill>
                <a:latin typeface="Arial"/>
                <a:cs typeface="Arial"/>
              </a:rPr>
              <a:t>upilnować</a:t>
            </a:r>
            <a:r>
              <a:rPr dirty="0" sz="1300" spc="1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status </a:t>
            </a:r>
            <a:r>
              <a:rPr dirty="0" sz="1300" b="1">
                <a:solidFill>
                  <a:srgbClr val="E94F1E"/>
                </a:solidFill>
                <a:latin typeface="Arial"/>
                <a:cs typeface="Arial"/>
              </a:rPr>
              <a:t>SUPER</a:t>
            </a:r>
            <a:r>
              <a:rPr dirty="0" sz="1300" spc="25" b="1">
                <a:solidFill>
                  <a:srgbClr val="E94F1E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E94F1E"/>
                </a:solidFill>
                <a:latin typeface="Arial"/>
                <a:cs typeface="Arial"/>
              </a:rPr>
              <a:t>SPRZEDAWCY</a:t>
            </a:r>
            <a:r>
              <a:rPr dirty="0" sz="1300" spc="-10">
                <a:solidFill>
                  <a:srgbClr val="E94F1E"/>
                </a:solidFill>
                <a:latin typeface="Century Gothic"/>
                <a:cs typeface="Century Gothic"/>
              </a:rPr>
              <a:t>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363" y="6431305"/>
            <a:ext cx="59436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Jak?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1363" y="7023125"/>
            <a:ext cx="5021580" cy="2204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trafi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produkt,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który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generuje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słabe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oceny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klientów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to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zdążysz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go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wyłączyć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innych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kontach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straty</a:t>
            </a:r>
            <a:r>
              <a:rPr dirty="0" sz="13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wizerunkowe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rozleją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wszystkie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konta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cały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biznes.</a:t>
            </a:r>
            <a:endParaRPr sz="1300">
              <a:latin typeface="Century Gothic"/>
              <a:cs typeface="Century Gothic"/>
            </a:endParaRPr>
          </a:p>
          <a:p>
            <a:pPr marL="12700" marR="427990">
              <a:lnSpc>
                <a:spcPct val="100000"/>
              </a:lnSpc>
              <a:spcBef>
                <a:spcPts val="156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korzystasz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kilku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hurtowni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i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chcesz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ponosić dodatkowych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kosztów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wysyłki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gdy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Twój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wybierze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np.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2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produkty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2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różnych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hurtowni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wówczas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łatwiej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zarządzać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całością.</a:t>
            </a:r>
            <a:endParaRPr sz="1300">
              <a:latin typeface="Century Gothic"/>
              <a:cs typeface="Century Gothic"/>
            </a:endParaRPr>
          </a:p>
          <a:p>
            <a:pPr marL="12700" marR="81470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podpiąć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jedną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hurtownię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jednego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konta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problem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głowy.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36506" y="1711194"/>
            <a:ext cx="887094" cy="942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1125">
                <a:solidFill>
                  <a:srgbClr val="FFFFFF"/>
                </a:solidFill>
                <a:latin typeface="Arial Black"/>
                <a:cs typeface="Arial Black"/>
              </a:rPr>
              <a:t>11.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604520">
              <a:lnSpc>
                <a:spcPct val="100000"/>
              </a:lnSpc>
              <a:spcBef>
                <a:spcPts val="115"/>
              </a:spcBef>
            </a:pPr>
            <a:r>
              <a:rPr dirty="0" spc="-165"/>
              <a:t>Nie</a:t>
            </a:r>
            <a:r>
              <a:rPr dirty="0" spc="-155"/>
              <a:t> </a:t>
            </a:r>
            <a:r>
              <a:rPr dirty="0" spc="-100"/>
              <a:t>tylko</a:t>
            </a:r>
            <a:r>
              <a:rPr dirty="0" spc="-155"/>
              <a:t> </a:t>
            </a:r>
            <a:r>
              <a:rPr dirty="0" spc="-35"/>
              <a:t>Allegro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55912" y="10228987"/>
            <a:ext cx="2250440" cy="2311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FFFFFF"/>
                </a:solidFill>
                <a:latin typeface="Century Gothic"/>
                <a:cs typeface="Century Gothic"/>
              </a:rPr>
              <a:t>SekretyHandlu.pl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160">
                <a:solidFill>
                  <a:srgbClr val="FFFFFF"/>
                </a:solidFill>
                <a:latin typeface="Century Gothic"/>
                <a:cs typeface="Century Gothic"/>
              </a:rPr>
              <a:t>@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entury Gothic"/>
                <a:cs typeface="Century Gothic"/>
              </a:rPr>
              <a:t>2019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1363" y="1214310"/>
            <a:ext cx="4960620" cy="6667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0815">
              <a:lnSpc>
                <a:spcPct val="100000"/>
              </a:lnSpc>
              <a:spcBef>
                <a:spcPts val="100"/>
              </a:spcBef>
            </a:pPr>
            <a:r>
              <a:rPr dirty="0" sz="2000" spc="65">
                <a:solidFill>
                  <a:srgbClr val="1D1D1B"/>
                </a:solidFill>
                <a:latin typeface="Century Gothic"/>
                <a:cs typeface="Century Gothic"/>
              </a:rPr>
              <a:t>Skuteczni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sprzedawcy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ograniczają 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20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wyłącznie</a:t>
            </a:r>
            <a:r>
              <a:rPr dirty="0" sz="20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2000" spc="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20">
                <a:solidFill>
                  <a:srgbClr val="1D1D1B"/>
                </a:solidFill>
                <a:latin typeface="Century Gothic"/>
                <a:cs typeface="Century Gothic"/>
              </a:rPr>
              <a:t>jednego</a:t>
            </a:r>
            <a:r>
              <a:rPr dirty="0" sz="2000" spc="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kanału sprzedaży.</a:t>
            </a:r>
            <a:endParaRPr sz="2000">
              <a:latin typeface="Century Gothic"/>
              <a:cs typeface="Century Gothic"/>
            </a:endParaRPr>
          </a:p>
          <a:p>
            <a:pPr marL="12700" marR="433705">
              <a:lnSpc>
                <a:spcPct val="100000"/>
              </a:lnSpc>
              <a:spcBef>
                <a:spcPts val="142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Allegro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nadal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potęga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polskim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rynku.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Pozycja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quasi-monopolisty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pozwala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temu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portalowi</a:t>
            </a:r>
            <a:r>
              <a:rPr dirty="0" sz="1300" spc="1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dyktować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warunki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narzucać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sprzedawcom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jednostronnie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zasady korzystania.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Wszyscy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wściekamy.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Nikt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lubi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płacić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więcej</a:t>
            </a:r>
            <a:endParaRPr sz="1300">
              <a:latin typeface="Century Gothic"/>
              <a:cs typeface="Century Gothic"/>
            </a:endParaRPr>
          </a:p>
          <a:p>
            <a:pPr marL="129539" indent="-116839">
              <a:lnSpc>
                <a:spcPct val="100000"/>
              </a:lnSpc>
              <a:buChar char="-"/>
              <a:tabLst>
                <a:tab pos="129539" algn="l"/>
              </a:tabLst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jasne.</a:t>
            </a:r>
            <a:endParaRPr sz="1300">
              <a:latin typeface="Century Gothic"/>
              <a:cs typeface="Century Gothic"/>
            </a:endParaRPr>
          </a:p>
          <a:p>
            <a:pPr marL="12700" marR="501015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jednak zostaną Ci, 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którzy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wiedzą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 robią. Ci,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którzy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budują</a:t>
            </a:r>
            <a:r>
              <a:rPr dirty="0" sz="1300" spc="-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biznes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długofalowo.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ktoś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65">
                <a:solidFill>
                  <a:srgbClr val="1D1D1B"/>
                </a:solidFill>
                <a:latin typeface="Century Gothic"/>
                <a:cs typeface="Century Gothic"/>
              </a:rPr>
              <a:t>chce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zarobić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milion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weekend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narobić</a:t>
            </a:r>
            <a:endParaRPr sz="1300">
              <a:latin typeface="Century Gothic"/>
              <a:cs typeface="Century Gothic"/>
            </a:endParaRPr>
          </a:p>
          <a:p>
            <a:pPr marL="129539" indent="-116839">
              <a:lnSpc>
                <a:spcPct val="100000"/>
              </a:lnSpc>
              <a:buChar char="-"/>
              <a:tabLst>
                <a:tab pos="129539" algn="l"/>
              </a:tabLst>
            </a:pP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zrezygnuje.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trzeba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jednak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szukać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innych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kanałów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sprzedaży.</a:t>
            </a:r>
            <a:r>
              <a:rPr dirty="0" sz="1300" spc="5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wiesz,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coś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dobrze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sprzedaje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Allegro,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dlaczego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wystawisz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 b="1">
                <a:solidFill>
                  <a:srgbClr val="1D1D1B"/>
                </a:solidFill>
                <a:latin typeface="Arial"/>
                <a:cs typeface="Arial"/>
              </a:rPr>
              <a:t>OLX</a:t>
            </a:r>
            <a:r>
              <a:rPr dirty="0" sz="1300" spc="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oraz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b="1">
                <a:solidFill>
                  <a:srgbClr val="1D1D1B"/>
                </a:solidFill>
                <a:latin typeface="Arial"/>
                <a:cs typeface="Arial"/>
              </a:rPr>
              <a:t>Facebook</a:t>
            </a:r>
            <a:r>
              <a:rPr dirty="0" sz="1300" spc="60" b="1">
                <a:solidFill>
                  <a:srgbClr val="1D1D1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1D1B"/>
                </a:solidFill>
                <a:latin typeface="Arial"/>
                <a:cs typeface="Arial"/>
              </a:rPr>
              <a:t>Marketplace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.</a:t>
            </a:r>
            <a:endParaRPr sz="1300">
              <a:latin typeface="Century Gothic"/>
              <a:cs typeface="Century Gothic"/>
            </a:endParaRPr>
          </a:p>
          <a:p>
            <a:pPr marL="12700" marR="292735">
              <a:lnSpc>
                <a:spcPct val="100000"/>
              </a:lnSpc>
              <a:spcBef>
                <a:spcPts val="1560"/>
              </a:spcBef>
            </a:pP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Póki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40">
                <a:solidFill>
                  <a:srgbClr val="1D1D1B"/>
                </a:solidFill>
                <a:latin typeface="Century Gothic"/>
                <a:cs typeface="Century Gothic"/>
              </a:rPr>
              <a:t>oba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miejsca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 darmowe</a:t>
            </a:r>
            <a:r>
              <a:rPr dirty="0" sz="1300" spc="-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opcje umożliwiające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dostęp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setek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tysięcy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klientów.</a:t>
            </a:r>
            <a:r>
              <a:rPr dirty="0" sz="1300" spc="1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Najlepsi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sprzedawcy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korzystają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cały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czas.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 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Zyski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przeznaczyć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-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reklamę.</a:t>
            </a:r>
            <a:endParaRPr sz="1300">
              <a:latin typeface="Century Gothic"/>
              <a:cs typeface="Century Gothic"/>
            </a:endParaRPr>
          </a:p>
          <a:p>
            <a:pPr marL="12700" marR="49657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My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tym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etapie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sprzedajemy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wiele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więcej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już</a:t>
            </a:r>
            <a:r>
              <a:rPr dirty="0" sz="1300" spc="1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poza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Allegro.</a:t>
            </a:r>
            <a:endParaRPr sz="1300">
              <a:latin typeface="Century Gothic"/>
              <a:cs typeface="Century Gothic"/>
            </a:endParaRPr>
          </a:p>
          <a:p>
            <a:pPr marL="12700" marR="4495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Koniecznie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zacznij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Allegro,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najszybciej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uniezależnić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jednego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kanału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testować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inne.</a:t>
            </a:r>
            <a:endParaRPr sz="1300">
              <a:latin typeface="Century Gothic"/>
              <a:cs typeface="Century Gothic"/>
            </a:endParaRPr>
          </a:p>
        </p:txBody>
      </p:sp>
      <p:sp>
        <p:nvSpPr>
          <p:cNvPr id="2" name="object 2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/>
          <p:nvPr/>
        </p:nvSpPr>
        <p:spPr>
          <a:xfrm>
            <a:off x="3259366" y="1711206"/>
            <a:ext cx="1041400" cy="9423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6000" spc="-725">
                <a:solidFill>
                  <a:srgbClr val="FFFFFF"/>
                </a:solidFill>
                <a:latin typeface="Arial Black"/>
                <a:cs typeface="Arial Black"/>
              </a:rPr>
              <a:t>12.</a:t>
            </a:r>
            <a:endParaRPr sz="6000">
              <a:latin typeface="Arial Black"/>
              <a:cs typeface="Arial Black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907400" y="3547636"/>
            <a:ext cx="3745865" cy="1266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15" marR="5080" indent="-6350">
              <a:lnSpc>
                <a:spcPct val="127200"/>
              </a:lnSpc>
              <a:spcBef>
                <a:spcPts val="95"/>
              </a:spcBef>
            </a:pPr>
            <a:r>
              <a:rPr dirty="0" sz="3200" spc="-220">
                <a:solidFill>
                  <a:srgbClr val="FFFFFF"/>
                </a:solidFill>
                <a:latin typeface="Arial Black"/>
                <a:cs typeface="Arial Black"/>
              </a:rPr>
              <a:t>Zawsze</a:t>
            </a:r>
            <a:r>
              <a:rPr dirty="0" sz="3200" spc="-1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110">
                <a:solidFill>
                  <a:srgbClr val="FFFFFF"/>
                </a:solidFill>
                <a:latin typeface="Arial Black"/>
                <a:cs typeface="Arial Black"/>
              </a:rPr>
              <a:t>zaczynają </a:t>
            </a:r>
            <a:r>
              <a:rPr dirty="0" sz="3200">
                <a:solidFill>
                  <a:srgbClr val="FFFFFF"/>
                </a:solidFill>
                <a:latin typeface="Arial Black"/>
                <a:cs typeface="Arial Black"/>
              </a:rPr>
              <a:t>od</a:t>
            </a:r>
            <a:r>
              <a:rPr dirty="0" sz="3200" spc="-1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200" spc="-60">
                <a:solidFill>
                  <a:srgbClr val="FFFFFF"/>
                </a:solidFill>
                <a:latin typeface="Arial Black"/>
                <a:cs typeface="Arial Black"/>
              </a:rPr>
              <a:t>dropshippingu</a:t>
            </a:r>
            <a:endParaRPr sz="3200">
              <a:latin typeface="Arial Black"/>
              <a:cs typeface="Arial Black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655912" y="10228999"/>
            <a:ext cx="2250440" cy="2311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1450">
                <a:solidFill>
                  <a:srgbClr val="FFFFFF"/>
                </a:solidFill>
                <a:latin typeface="Century Gothic"/>
                <a:cs typeface="Century Gothic"/>
              </a:rPr>
              <a:t>SekretyHandlu.pl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160">
                <a:solidFill>
                  <a:srgbClr val="FFFFFF"/>
                </a:solidFill>
                <a:latin typeface="Century Gothic"/>
                <a:cs typeface="Century Gothic"/>
              </a:rPr>
              <a:t>@</a:t>
            </a:r>
            <a:r>
              <a:rPr dirty="0" sz="1450" spc="15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entury Gothic"/>
                <a:cs typeface="Century Gothic"/>
              </a:rPr>
              <a:t>2019</a:t>
            </a:r>
            <a:endParaRPr sz="145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61363" y="1214310"/>
            <a:ext cx="4968240" cy="79476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00">
                <a:solidFill>
                  <a:srgbClr val="1D1D1B"/>
                </a:solidFill>
                <a:latin typeface="Century Gothic"/>
                <a:cs typeface="Century Gothic"/>
              </a:rPr>
              <a:t>Za</a:t>
            </a:r>
            <a:r>
              <a:rPr dirty="0" sz="2000" spc="1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każdym</a:t>
            </a:r>
            <a:r>
              <a:rPr dirty="0" sz="20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razem</a:t>
            </a:r>
            <a:r>
              <a:rPr dirty="0" sz="20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gdy</a:t>
            </a:r>
            <a:r>
              <a:rPr dirty="0" sz="2000" spc="1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45">
                <a:solidFill>
                  <a:srgbClr val="1D1D1B"/>
                </a:solidFill>
                <a:latin typeface="Century Gothic"/>
                <a:cs typeface="Century Gothic"/>
              </a:rPr>
              <a:t>zaczynasz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2000" spc="15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20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5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20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zaczynaj</a:t>
            </a:r>
            <a:r>
              <a:rPr dirty="0" sz="20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20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2000" spc="-10">
                <a:solidFill>
                  <a:srgbClr val="1D1D1B"/>
                </a:solidFill>
                <a:latin typeface="Century Gothic"/>
                <a:cs typeface="Century Gothic"/>
              </a:rPr>
              <a:t>dropshippingu.</a:t>
            </a:r>
            <a:endParaRPr sz="20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Dlaczego?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wiele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powodów,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najważniejsze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to:</a:t>
            </a:r>
            <a:endParaRPr sz="1300">
              <a:latin typeface="Century Gothic"/>
              <a:cs typeface="Century Gothic"/>
            </a:endParaRPr>
          </a:p>
          <a:p>
            <a:pPr marL="241300" marR="129539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przetestować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nową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branżę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nowe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produkty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bez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inwestowania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góry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pieniędzy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ciemno</a:t>
            </a:r>
            <a:endParaRPr sz="1300">
              <a:latin typeface="Century Gothic"/>
              <a:cs typeface="Century Gothic"/>
            </a:endParaRPr>
          </a:p>
          <a:p>
            <a:pPr marL="241300" marR="9271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nigdy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wiesz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konkretnie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jakiej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cenie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będzie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się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sprzedawało.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Wystaw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wszystko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niech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30">
                <a:solidFill>
                  <a:srgbClr val="1D1D1B"/>
                </a:solidFill>
                <a:latin typeface="Century Gothic"/>
                <a:cs typeface="Century Gothic"/>
              </a:rPr>
              <a:t>RYNEK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powie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Ci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sprzedawać,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inwestować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swój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czas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które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aukcje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“dopieszcząć”</a:t>
            </a:r>
            <a:endParaRPr sz="1300">
              <a:latin typeface="Century Gothic"/>
              <a:cs typeface="Century Gothic"/>
            </a:endParaRPr>
          </a:p>
          <a:p>
            <a:pPr marL="241300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przetestować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współpracuje</a:t>
            </a:r>
            <a:r>
              <a:rPr dirty="0" sz="1300" spc="3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endParaRPr sz="1300">
              <a:latin typeface="Century Gothic"/>
              <a:cs typeface="Century Gothic"/>
            </a:endParaRPr>
          </a:p>
          <a:p>
            <a:pPr marL="241300" marR="41910">
              <a:lnSpc>
                <a:spcPct val="100000"/>
              </a:lnSpc>
            </a:pP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różnymi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hurtowniami;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nigdy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wiesz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czy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dostawca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nie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wyłoży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trakcie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współpracy.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Zasadniczo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rzadkie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przypadki,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ale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zdarza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warto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przetestować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bez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inwestowania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pieniędzy</a:t>
            </a:r>
            <a:endParaRPr sz="1300">
              <a:latin typeface="Century Gothic"/>
              <a:cs typeface="Century Gothic"/>
            </a:endParaRPr>
          </a:p>
          <a:p>
            <a:pPr marL="241300" marR="226060">
              <a:lnSpc>
                <a:spcPct val="100000"/>
              </a:lnSpc>
              <a:spcBef>
                <a:spcPts val="1560"/>
              </a:spcBef>
            </a:pP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nauczyć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zwracają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klienci,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jakie</a:t>
            </a:r>
            <a:r>
              <a:rPr dirty="0" sz="1300" spc="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zadają pytania</a:t>
            </a:r>
            <a:endParaRPr sz="1300">
              <a:latin typeface="Century Gothic"/>
              <a:cs typeface="Century Gothic"/>
            </a:endParaRPr>
          </a:p>
          <a:p>
            <a:pPr marL="241300" marR="27305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zawsze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jest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tak,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aukcje,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które</a:t>
            </a:r>
            <a:r>
              <a:rPr dirty="0" sz="1300" spc="10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faktycznie</a:t>
            </a:r>
            <a:r>
              <a:rPr dirty="0" sz="1300" spc="10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sprzedają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stanowią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mniej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niż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10%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najlepsze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nawet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poniżej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35">
                <a:solidFill>
                  <a:srgbClr val="1D1D1B"/>
                </a:solidFill>
                <a:latin typeface="Century Gothic"/>
                <a:cs typeface="Century Gothic"/>
              </a:rPr>
              <a:t>1%</a:t>
            </a:r>
            <a:endParaRPr sz="1300">
              <a:latin typeface="Century Gothic"/>
              <a:cs typeface="Century Gothic"/>
            </a:endParaRPr>
          </a:p>
          <a:p>
            <a:pPr marL="241300" marR="6604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kiedy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już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okaże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się,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dobrze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wybrałeś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branżę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i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konkretne</a:t>
            </a:r>
            <a:r>
              <a:rPr dirty="0" sz="1300" spc="1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produkty</a:t>
            </a:r>
            <a:r>
              <a:rPr dirty="0" sz="1300" spc="1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zostały</a:t>
            </a:r>
            <a:r>
              <a:rPr dirty="0" sz="1300" spc="1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zweryfikowane</a:t>
            </a:r>
            <a:r>
              <a:rPr dirty="0" sz="1300" spc="1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przez</a:t>
            </a:r>
            <a:r>
              <a:rPr dirty="0" sz="1300" spc="1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rynek</a:t>
            </a:r>
            <a:r>
              <a:rPr dirty="0" sz="1300" spc="1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0">
                <a:solidFill>
                  <a:srgbClr val="1D1D1B"/>
                </a:solidFill>
                <a:latin typeface="Century Gothic"/>
                <a:cs typeface="Century Gothic"/>
              </a:rPr>
              <a:t>-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przez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kupujących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teraz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wiesz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100%,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warto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pomyśleć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kroku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nr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2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wziąć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trochę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towaru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stan</a:t>
            </a:r>
            <a:endParaRPr sz="1300">
              <a:latin typeface="Century Gothic"/>
              <a:cs typeface="Century Gothic"/>
            </a:endParaRPr>
          </a:p>
          <a:p>
            <a:pPr marL="12700" marR="1588770">
              <a:lnSpc>
                <a:spcPct val="100000"/>
              </a:lnSpc>
              <a:spcBef>
                <a:spcPts val="1560"/>
              </a:spcBef>
            </a:pPr>
            <a:r>
              <a:rPr dirty="0" sz="1300" spc="-150">
                <a:solidFill>
                  <a:srgbClr val="1D1D1B"/>
                </a:solidFill>
                <a:latin typeface="Century Gothic"/>
                <a:cs typeface="Century Gothic"/>
              </a:rPr>
              <a:t>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przeczytałeś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i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chciałbyś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60">
                <a:solidFill>
                  <a:srgbClr val="1D1D1B"/>
                </a:solidFill>
                <a:latin typeface="Century Gothic"/>
                <a:cs typeface="Century Gothic"/>
              </a:rPr>
              <a:t>więcej…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chciałbyś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dowiedzieć</a:t>
            </a:r>
            <a:r>
              <a:rPr dirty="0" sz="1300" spc="-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się:</a:t>
            </a:r>
            <a:endParaRPr sz="1300">
              <a:latin typeface="Century Gothic"/>
              <a:cs typeface="Century Gothic"/>
            </a:endParaRPr>
          </a:p>
          <a:p>
            <a:pPr marL="24130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czy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musisz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mieć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firmę,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aby</a:t>
            </a:r>
            <a:r>
              <a:rPr dirty="0" sz="1300" spc="2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zacząć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sprzedawać</a:t>
            </a:r>
            <a:endParaRPr sz="1300">
              <a:latin typeface="Century Gothic"/>
              <a:cs typeface="Century Gothic"/>
            </a:endParaRPr>
          </a:p>
          <a:p>
            <a:pPr marL="2413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działać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bez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kasy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fiskalnej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(bez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limitu)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powie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twój</a:t>
            </a:r>
            <a:r>
              <a:rPr dirty="0" sz="1300" spc="9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księgowy</a:t>
            </a:r>
            <a:endParaRPr sz="1300">
              <a:latin typeface="Century Gothic"/>
              <a:cs typeface="Century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2887459"/>
            <a:ext cx="89027" cy="890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972" y="3479876"/>
            <a:ext cx="89027" cy="890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4472216"/>
            <a:ext cx="89027" cy="890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5662041"/>
            <a:ext cx="89027" cy="890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972" y="6257150"/>
            <a:ext cx="89027" cy="890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972" y="6851142"/>
            <a:ext cx="89027" cy="8901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9972" y="8435226"/>
            <a:ext cx="89027" cy="8901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9972" y="8836965"/>
            <a:ext cx="89027" cy="89026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1331950"/>
            <a:ext cx="89027" cy="890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1927149"/>
            <a:ext cx="89027" cy="890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972" y="2714002"/>
            <a:ext cx="89027" cy="890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972" y="3116758"/>
            <a:ext cx="89027" cy="8901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3508222"/>
            <a:ext cx="89027" cy="890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9972" y="4300118"/>
            <a:ext cx="89027" cy="8901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89963" y="1238313"/>
            <a:ext cx="4490720" cy="3393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radykalnie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45">
                <a:solidFill>
                  <a:srgbClr val="1D1D1B"/>
                </a:solidFill>
                <a:latin typeface="Century Gothic"/>
                <a:cs typeface="Century Gothic"/>
              </a:rPr>
              <a:t>zmniejszyć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ilość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dokumentów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księgowy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-</a:t>
            </a:r>
            <a:r>
              <a:rPr dirty="0" sz="1300" spc="8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tego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też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księgowy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Ci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nie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powie</a:t>
            </a:r>
            <a:endParaRPr sz="1300">
              <a:latin typeface="Century Gothic"/>
              <a:cs typeface="Century Gothic"/>
            </a:endParaRPr>
          </a:p>
          <a:p>
            <a:pPr marL="12700" marR="3175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czy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możesz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działać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bez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kasy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fiskalnej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nawet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jeśli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już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ją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masz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Twój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księgowy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twierdzi,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że</a:t>
            </a:r>
            <a:r>
              <a:rPr dirty="0" sz="1300" spc="16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musisz</a:t>
            </a:r>
            <a:r>
              <a:rPr dirty="0" sz="1300" spc="1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wybijać paragony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dla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każdej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sprzedaży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rozegrać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kwestię</a:t>
            </a:r>
            <a:r>
              <a:rPr dirty="0" sz="1300" spc="9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pobrań</a:t>
            </a:r>
            <a:endParaRPr sz="13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co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ze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zwrotami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11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dropshippingu</a:t>
            </a:r>
            <a:endParaRPr sz="1300">
              <a:latin typeface="Century Gothic"/>
              <a:cs typeface="Century Gothic"/>
            </a:endParaRPr>
          </a:p>
          <a:p>
            <a:pPr marL="12700" marR="5080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jak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rozkręcić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biznes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od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zera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100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tys./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miesięcznego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przychodu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85">
                <a:solidFill>
                  <a:srgbClr val="1D1D1B"/>
                </a:solidFill>
                <a:latin typeface="Century Gothic"/>
                <a:cs typeface="Century Gothic"/>
              </a:rPr>
              <a:t>zysku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poziomie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60">
                <a:solidFill>
                  <a:srgbClr val="1D1D1B"/>
                </a:solidFill>
                <a:latin typeface="Century Gothic"/>
                <a:cs typeface="Century Gothic"/>
              </a:rPr>
              <a:t>15-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17%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14">
                <a:solidFill>
                  <a:srgbClr val="1D1D1B"/>
                </a:solidFill>
                <a:latin typeface="Century Gothic"/>
                <a:cs typeface="Century Gothic"/>
              </a:rPr>
              <a:t>6</a:t>
            </a:r>
            <a:r>
              <a:rPr dirty="0" sz="1300" spc="5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do</a:t>
            </a:r>
            <a:r>
              <a:rPr dirty="0" sz="1300" spc="5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5">
                <a:solidFill>
                  <a:srgbClr val="1D1D1B"/>
                </a:solidFill>
                <a:latin typeface="Century Gothic"/>
                <a:cs typeface="Century Gothic"/>
              </a:rPr>
              <a:t>12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miesięcy...</a:t>
            </a:r>
            <a:endParaRPr sz="1300">
              <a:latin typeface="Century Gothic"/>
              <a:cs typeface="Century Gothic"/>
            </a:endParaRPr>
          </a:p>
          <a:p>
            <a:pPr marL="12700" marR="246379">
              <a:lnSpc>
                <a:spcPct val="100000"/>
              </a:lnSpc>
              <a:spcBef>
                <a:spcPts val="1560"/>
              </a:spcBef>
            </a:pP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to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kliknij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w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ten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60">
                <a:solidFill>
                  <a:srgbClr val="1D1D1B"/>
                </a:solidFill>
                <a:latin typeface="Century Gothic"/>
                <a:cs typeface="Century Gothic"/>
              </a:rPr>
              <a:t>link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przyjdź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20">
                <a:solidFill>
                  <a:srgbClr val="1D1D1B"/>
                </a:solidFill>
                <a:latin typeface="Century Gothic"/>
                <a:cs typeface="Century Gothic"/>
              </a:rPr>
              <a:t>na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>
                <a:solidFill>
                  <a:srgbClr val="1D1D1B"/>
                </a:solidFill>
                <a:latin typeface="Century Gothic"/>
                <a:cs typeface="Century Gothic"/>
              </a:rPr>
              <a:t>szkolenie</a:t>
            </a:r>
            <a:r>
              <a:rPr dirty="0" sz="1300" spc="7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170">
                <a:solidFill>
                  <a:srgbClr val="1D1D1B"/>
                </a:solidFill>
                <a:latin typeface="Century Gothic"/>
                <a:cs typeface="Century Gothic"/>
              </a:rPr>
              <a:t>z</a:t>
            </a:r>
            <a:r>
              <a:rPr dirty="0" sz="1300" spc="65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Kamilem </a:t>
            </a:r>
            <a:r>
              <a:rPr dirty="0" sz="1300" spc="75">
                <a:solidFill>
                  <a:srgbClr val="1D1D1B"/>
                </a:solidFill>
                <a:latin typeface="Century Gothic"/>
                <a:cs typeface="Century Gothic"/>
              </a:rPr>
              <a:t>i</a:t>
            </a:r>
            <a:r>
              <a:rPr dirty="0" sz="1300" spc="30">
                <a:solidFill>
                  <a:srgbClr val="1D1D1B"/>
                </a:solidFill>
                <a:latin typeface="Century Gothic"/>
                <a:cs typeface="Century Gothic"/>
              </a:rPr>
              <a:t> </a:t>
            </a:r>
            <a:r>
              <a:rPr dirty="0" sz="1300" spc="-10">
                <a:solidFill>
                  <a:srgbClr val="1D1D1B"/>
                </a:solidFill>
                <a:latin typeface="Century Gothic"/>
                <a:cs typeface="Century Gothic"/>
              </a:rPr>
              <a:t>Michałem</a:t>
            </a:r>
            <a:endParaRPr sz="1300">
              <a:latin typeface="Century Gothic"/>
              <a:cs typeface="Century Gothic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0734" y="5069230"/>
            <a:ext cx="5038585" cy="2115642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0008438"/>
            <a:ext cx="7560309" cy="683895"/>
          </a:xfrm>
          <a:custGeom>
            <a:avLst/>
            <a:gdLst/>
            <a:ahLst/>
            <a:cxnLst/>
            <a:rect l="l" t="t" r="r" b="b"/>
            <a:pathLst>
              <a:path w="7560309" h="683895">
                <a:moveTo>
                  <a:pt x="7560056" y="0"/>
                </a:moveTo>
                <a:lnTo>
                  <a:pt x="0" y="0"/>
                </a:lnTo>
                <a:lnTo>
                  <a:pt x="0" y="683564"/>
                </a:lnTo>
                <a:lnTo>
                  <a:pt x="7560056" y="683564"/>
                </a:lnTo>
                <a:lnTo>
                  <a:pt x="7560056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SekretyHandlu.pl</a:t>
            </a:r>
            <a:r>
              <a:rPr dirty="0" spc="150"/>
              <a:t> </a:t>
            </a:r>
            <a:r>
              <a:rPr dirty="0" spc="160"/>
              <a:t>@</a:t>
            </a:r>
            <a:r>
              <a:rPr dirty="0" spc="150"/>
              <a:t> </a:t>
            </a:r>
            <a:r>
              <a:rPr dirty="0" spc="110"/>
              <a:t>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RAPORT-12RZECZY-v2</dc:title>
  <dcterms:created xsi:type="dcterms:W3CDTF">2026-09-03T21:01:36Z</dcterms:created>
  <dcterms:modified xsi:type="dcterms:W3CDTF">2026-09-03T21:01:36Z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2020-01-23T00:00:00Z</vt:filetime>
  </property>
  <property fmtid="{D5CDD505-2E9C-101B-9397-08002B2CF9AE}" pid="4" name="Creator">
    <vt:lpwstr>Adobe Illustrator 24.0 (Macintosh)</vt:lpwstr>
  </property>
  <property fmtid="{D5CDD505-2E9C-101B-9397-08002B2CF9AE}" pid="5" name="LastSaved">
    <vt:filetime>2026-09-03T00:00:00Z</vt:filetime>
  </property>
  <property fmtid="{D5CDD505-2E9C-101B-9397-08002B2CF9AE}" pid="6" name="Producer">
    <vt:lpwstr>3-Heights(TM) PDF Security Shell 4.8.25.2 (http://www.pdf-tools.com)</vt:lpwstr>
  </property>
</Properties>
</file>